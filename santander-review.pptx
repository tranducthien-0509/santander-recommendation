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5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F51-49D1-8B00-64412D434008}"/>
              </c:ext>
            </c:extLst>
          </c:dPt>
          <c:dPt>
            <c:idx val="1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F51-49D1-8B00-64412D43400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Chưa có event</c:v>
                </c:pt>
                <c:pt idx="1">
                  <c:v>Có event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78.69</c:v>
                </c:pt>
                <c:pt idx="1">
                  <c:v>21.31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51-49D1-8B00-64412D4340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97D-4E6F-BCF6-762F7DB2335A}"/>
              </c:ext>
            </c:extLst>
          </c:dPt>
          <c:dPt>
            <c:idx val="1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97D-4E6F-BCF6-762F7DB2335A}"/>
              </c:ext>
            </c:extLst>
          </c:dPt>
          <c:dPt>
            <c:idx val="2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97D-4E6F-BCF6-762F7DB2335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M_low · 0–1 SP</c:v>
                </c:pt>
                <c:pt idx="1">
                  <c:v>M_mid · 2–3 SP</c:v>
                </c:pt>
                <c:pt idx="2">
                  <c:v>M_high · ≥4 SP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4.1500000000000004</c:v>
                </c:pt>
                <c:pt idx="2">
                  <c:v>11.23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7D-4E6F-BCF6-762F7DB233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"/>
          <c:min val="0"/>
        </c:scaling>
        <c:delete val="0"/>
        <c:axPos val="b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BDE-4596-8270-B6AD0E0AB446}"/>
              </c:ext>
            </c:extLst>
          </c:dPt>
          <c:dPt>
            <c:idx val="1"/>
            <c:invertIfNegative val="1"/>
            <c:bubble3D val="0"/>
            <c:spPr>
              <a:solidFill>
                <a:srgbClr val="D8993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BDE-4596-8270-B6AD0E0AB446}"/>
              </c:ext>
            </c:extLst>
          </c:dPt>
          <c:dPt>
            <c:idx val="2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BDE-4596-8270-B6AD0E0AB44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Chỉ cờ active</c:v>
                </c:pt>
                <c:pt idx="1">
                  <c:v>Chỉ acquisition</c:v>
                </c:pt>
                <c:pt idx="2">
                  <c:v>Cả hai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99.28</c:v>
                </c:pt>
                <c:pt idx="1">
                  <c:v>8.52</c:v>
                </c:pt>
                <c:pt idx="2">
                  <c:v>99.12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DE-4596-8270-B6AD0E0AB4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b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2C0-4618-8B3F-03182963F68D}"/>
              </c:ext>
            </c:extLst>
          </c:dPt>
          <c:dPt>
            <c:idx val="1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2C0-4618-8B3F-03182963F68D}"/>
              </c:ext>
            </c:extLst>
          </c:dPt>
          <c:dPt>
            <c:idx val="2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2C0-4618-8B3F-03182963F68D}"/>
              </c:ext>
            </c:extLst>
          </c:dPt>
          <c:dPt>
            <c:idx val="3"/>
            <c:invertIfNegative val="1"/>
            <c:bubble3D val="0"/>
            <c:spPr>
              <a:solidFill>
                <a:srgbClr val="008C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2C0-4618-8B3F-03182963F68D}"/>
              </c:ext>
            </c:extLst>
          </c:dPt>
          <c:dLbls>
            <c:numFmt formatCode="0.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Popularity</c:v>
                </c:pt>
                <c:pt idx="1">
                  <c:v>Đồng sở hữu</c:v>
                </c:pt>
                <c:pt idx="2">
                  <c:v>Temporal</c:v>
                </c:pt>
                <c:pt idx="3">
                  <c:v>Temporal + cả hai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2.0840000000000001E-2</c:v>
                </c:pt>
                <c:pt idx="1">
                  <c:v>2.07E-2</c:v>
                </c:pt>
                <c:pt idx="2">
                  <c:v>2.453E-2</c:v>
                </c:pt>
                <c:pt idx="3">
                  <c:v>2.4459999999999999E-2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C0-4618-8B3F-03182963F6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9000000000000001E-2"/>
          <c:min val="0"/>
        </c:scaling>
        <c:delete val="0"/>
        <c:axPos val="b"/>
        <c:majorGridlines/>
        <c:numFmt formatCode="0.000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01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Mở bài bằng hai quyết định: ưu tiên khách nào và gợi ý sản phẩm gì. RFM và lifecycle là hai nhánh phân tích; không trình bày lifecycle như kết quả từ nhãn Champion.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Ví dụ trong bảng là minh họa. Không có tiền giao dịch, vì vậy M là proxy về số sản phẩm. Khoảng 33,4% event là mở lại sản phẩm đã từng ghi nhận acquisition.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Đầu vào RFM: raw, acquisition_events.parquet, rfm_proxy_raw.parquet. RFM tạo 17 bảng 16 cột. Lifecycle đọc bảng feature; có thể dựng feature độc lập từ raw và event. Affinity còn cần raw vì bảng feature không có 24 cờ sản phẩm. Inventory Affinity tìm đủ 17/17 RFM và 17/17 lifecycle.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không xác định nếu chưa có event. Khách stale mang giá trị cũ, không phải danh mục hiện tại. Đối soát 931.453 khách cuối kỳ khớp năm cột R/F/M; tổng F_events khớp event. Cắt sau 12/2015 cho feature tại 12/2015 giống hệt.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No_Acquisition_Event có 732.966 khách. 78,7% là mẫu số khách được quan sát; toàn panel tỷ lệ sẽ khác. Chọn F theo tháng và M theo danh mục. Độ phủ được chấm 21,3% với M_n_products so với 16,1% M_renta; khách chưa có event vẫn có nhãn riêng.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Độ ổn định tính trên khách được chấm ở cả hai tháng liền kề. K-means có 5 nhóm, quantile 27, rule 12 nhóm RF x M; khác số nhóm ảnh hưởng so sánh. Không khẳng định ổn định đồng nghĩa hữu ích. M thu nhập thiếu và đo khía cạnh khác.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Các cột là dải tỷ lệ qua M_low/mid/high tại cùng mốc 02/2016, không phải khoảng tin cậy. Champion R&lt;=3 F&gt;=3; Active R&lt;=3 F&lt;3. F theo số tháng có event. M chia 0–1 / 2–3 / &gt;=4. Nhãn mới theo lịch sử acquisition quan sát, không lần đầu sở hữu trong đời.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M_low n=632666, M_mid n=90785, M_high n=18795. Tỷ lệ 1,80 / 4,15 / 11,23%; cả nhóm 2,33%. M tại snapshot 02/2016. Quan hệ cùng chiều giữa nhóm chưa phải quan hệ tỷ lệ thuận toán học hay nhân quả. Hai target cùng tỷ lệ ở nhóm này vì chưa có acquisition lịch sử.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Ưu tiên Churned, Win-back, New, At-risk do vắng, Active, At-risk do active-drop, Inactive, Unknown. New không gồm cohort đầu left-censored. Win-back cần quay lại sau vắng &gt;=3 và active=1. Unknown khi chưa đủ bằng chứng. Mốc 2/3/2 chưa tối ưu.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Nguồn chung 01/2015–11/2015. Nhóm active_flag 3551429 lượt, acquisition-only 10597, cả hai 239976. Các lượt là khách–tháng không độc lập. Acquisition-only 12,98% còn nhãn Active tháng sau. Không kết luận nhân quả; v1 vẫn giữ.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Active-drop 20580 đầu đợt được chọn theo rule, hồi phục 1/2/3/6 tháng 22 / 30,42 / 35,95 /44,83%. Gap=3 n=13753 mốc nguồn; return within6=28,14%, active within6=5,14%. Không khách độc lập. Rule threshold chưa tối ưu.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Các phương pháp ước lượng tỷ lệ từ lịch sử với smoothing/trọng số cố định; ranking score không xác suất cá nhân calibrated. Temporal chỉ khách chưa sở hữu B và đủ snapshot nhãn. Loại sản phẩm đang có. Đồng sở hữu cặp nomina/nom_pens lift17,52 n47686 là phụ lục.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MAP_all gồm khách không acquisition AP=0; chỉ khách đủ nhãn, mean theo tháng. Chọn temporal_both trên validation best 0,021213 vs temporal0,021115; khóa trước test. Test temporal_both gain17,37%; temporal gain17,706%. Chênh0,00007 chưa có CI; không đổi selection theo test.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931453 current record; 25192 stale. Complete raw từ07/2015 đạt100%. Stale dùng popularity fallback, loại known-owned ở snapshot đầy đủ gần nhất; catalog freshness. All-target không all-evaluated. Báo cáo output lưu sẵn không run lại.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At-risk5,31% coverage51,44%; Churned5,02% coverage12,50% đo đúngt+3 theo nhãn gốc t, không cùng tháng. Return t+2 và acquisitions t+3 có thể xảy ra. 5% chỉ eligible subset. Coverage thấp dẫn selection bias.</a:t>
            </a:r>
          </a:p>
          <a:p>
            <a:r>
              <a:t>Nguồn: report tong-hop-3-notebook-santander.md và output lưu trong ba notebook. Không chạy lại dữ liệu trong phiên tạo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BÁO CÁO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Hiểu khách hàng để gợi ý đúng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Santander Product Recommendation  •  01/2015–05/2016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RFM-proxy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Lịch sử acquisition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Quy mô danh mục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9748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89864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47872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Trạng thái theo tháng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Lý do hoạt động hoặc vắng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89864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Affinity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47872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Xếp hạng sản phẩm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Kiểm chứng tháng tiếp theo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Phân nhóm giúp hiểu khách; bán chéo cần kiểm chứng hành vi tương lai.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Snapshot sở hữu sản phẩm là nền tảng của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Một dòng = một khách tại một tháng; acquisition = chuyển 0→1 giữa hai tháng liên tiếp.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5120640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Quy mô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Giá trị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Snapshot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13.647.309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Khách đã xuất hiện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956.645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Thời gian / sản phẩm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17 tháng / 24 sản phẩm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Acquisition event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561.710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560320"/>
          <a:ext cx="5257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Ví dụ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T1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T2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T3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Tài khoản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Thẻ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Quỹ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Acquisition có thể là mở lần đầu hoặc mở lại; thiếu snapshot không phải nhãn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ĐẦU VÀO → ĐẦU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Hai nhánh phân tích dùng chung feature khách–tháng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Lifecycle dùng dữ kiện để áp rule, không dùng nhãn phân khúc RFM.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10789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Notebook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Đầu vào chính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Đầu ra chính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RFM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Raw + event + bảng đối soát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Feature tháng + nhãn + ngưỡng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Lifecycle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Feature quan sát / active / event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Trạng thái và lý do theo tháng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Affinity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Raw 24 cờ + hồ sơ RFM/lifecycle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Ma trận + metrics + Top 7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Nhãn Champion, quantile và K-means không tham gia gán lifecycle.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RFM • CÁCH THỰC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RFM đo gần đây, tần suất và quy mô danh mục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Tính riêng ở từng tháng chốt; chỉ dùng thông tin đã có đến thời điểm đó.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R — Recency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02C46"/>
                </a:solidFill>
                <a:latin typeface="Arial"/>
              </a:defRPr>
            </a:pPr>
            <a:r>
              <a:t>R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17285"/>
                </a:solidFill>
                <a:latin typeface="Arial"/>
              </a:defRPr>
            </a:pPr>
            <a:r>
              <a:t>Số tháng từ event gần nhất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9748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89864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F —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747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02C46"/>
                </a:solidFill>
                <a:latin typeface="Arial"/>
              </a:defRPr>
            </a:pPr>
            <a:r>
              <a:t>F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0624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17285"/>
                </a:solidFill>
                <a:latin typeface="Arial"/>
              </a:defRPr>
            </a:pPr>
            <a:r>
              <a:t>Số tháng có ít nhất một 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69748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89864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M — danh mục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02C46"/>
                </a:solidFill>
                <a:latin typeface="Arial"/>
              </a:defRPr>
            </a:pPr>
            <a:r>
              <a:t>M =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17285"/>
                </a:solidFill>
                <a:latin typeface="Arial"/>
              </a:defRPr>
            </a:pPr>
            <a:r>
              <a:t>Số sản phẩm tại snapshot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Đối soát feature và kiểm tra không nhìn tương lai đều đạt; M chưa phải doanh thu.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RFM •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78,7% chưa có acquisition: cần giữ nhóm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Tại 05/2016, trên 931.453 khách có snapshot.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606040"/>
          <a:ext cx="6675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260604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8072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R không xác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456432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Có thể giữ sản phẩm từ trước hoặc danh mục ổn định.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Chưa có acquisition trong cửa sổ quan sát không đồng nghĩa churn hay ít giá trị.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RFM • LỰA CHỌN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Chọn quantile cho nhãn chính, rule để diễn giải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Cấu hình chính: R × số tháng có event × số sản phẩm; học ngưỡng 08/2015 rồi đóng băng.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Cách chia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nhóm được chấm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Giữ nhãn / tháng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Vai trò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Quantile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≈64%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Nhãn chính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K-means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≈81%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Tham khảo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Rule-based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12 (RF × M)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≈71%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Diễn giải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Lựa chọn dựa trên ý nghĩa, độ phủ và kiểm chứng mục tiêu; không chỉ độ ổn định.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RFM •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Champion chưa chắc mở sản phẩm mới nhiều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Chốt 02/2016 → đo ít nhất một acquisition sản phẩm mới trong 03–05/2016.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10789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 RFM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Điều kiện R/F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Tỷ lệ sản phẩm mới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 ≤ 3; F &lt; 3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12,70–14,02%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Champion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 ≤ 3; F ≥ 3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6,30–8,61%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3384D"/>
                </a:solidFill>
                <a:latin typeface="Arial"/>
              </a:defRPr>
            </a:pPr>
            <a:r>
              <a:t>F cao có thể phản ánh mở lại. Mở thường xuyên trong quá khứ chưa chắc là nhu cầu bán chéo sản phẩm mới.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Chọn khách theo target của chiến dịch, không mặc định chọn Champion.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RFM • INSIGHT THEO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Nhóm chưa có event vẫn chứa cơ hội bán chéo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Chốt 02/2016: 742.246 khách chưa có event → theo dõi 03–05/2016.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606040"/>
          <a:ext cx="6675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260604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8072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Cả nhóm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383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02C46"/>
                </a:solidFill>
                <a:latin typeface="Arial"/>
              </a:defRPr>
            </a:pPr>
            <a:r>
              <a:t>2,33%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1148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17285"/>
                </a:solidFill>
                <a:latin typeface="Arial"/>
              </a:defRPr>
            </a:pPr>
            <a:r>
              <a:t>Tỷ lệ có acquisition trong ba tháng tiếp theo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M cao hơn đi cùng tỷ lệ acquisition cao hơn trong nhóm chưa có event tại mốc này.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LIFECYCLE • CÁCH THỰC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Lifecycle gán trạng thái từ bằng chứng hiện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Dùng quan sát, cờ active và acquisition; rule được áp theo thứ tự ưu tiên.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Điều kiện chính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New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Mới vào panel, dưới 2 tháng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Có snapshot; active=1 hoặc acquisition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At-risk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Vắng 1–2 tháng hoặc vừa giảm active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Inactive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Có snapshot, active=0; sau các rule ưu tiên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Churned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Vắng ít nhất 3 tháng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New là mới trong panel; Churned là proxy vắng dài hạn. Có thêm Win-back và Unknown.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LIFECYCLE •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Active do acquisition ít bền hơn Active do cờ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Đo cờ active=1 tại t+1; dùng cùng tập tháng nguồn trong phân tích follow-up.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606040"/>
          <a:ext cx="6675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260604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8072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Cần đọc lý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456432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Một nhãn Active đang gộp các mức bền hoạt động khác nhau.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Có cơ sở thử tách acquisition thành cờ riêng; chưa chứng minh rule mới tốt hơn.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LIFECYCLE •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Vắng mặt và hồi phục hoạt động là hai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Các tỷ lệ “đã từng xảy ra trong h tháng” khác tỷ lệ ở đúng t+h.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51663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Sau khi active giảm 1→0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Từng hồi phục trong 2 tháng: 30,42%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Trong 6 tháng: 44,83%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06040"/>
            <a:ext cx="51663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807208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Sau khi đã vắng 3 tháng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56432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Có lại snapshot trong 6 tháng: 28,14%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Có snapshot + active=1: 5,14%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Quay lại dữ liệu chưa đồng nghĩa hoạt động lại; đọc riêng hai nguyên nhân At-risk.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AFFINITY • CÁCH THỰC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Từ đồng sở hữu đến khả năng mở ở tháng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Đầu vào: raw 24 cờ + feature, nhãn và ngưỡng RFM + lifecycle đầy đủ 17 tháng.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10789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Phương pháp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Câu hỏi khi khách có A, chưa có B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Popularity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B thường được mở tháng sau đến đâu?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Đồng sở hữu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Khách có A thường cũng đang có B không?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Temporal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Khách có A thường mở B vào tháng sau không?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Temporal + nhóm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Tỷ lệ mở theo RFM/lifecycle bổ sung được gì?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Quan hệ đồng sở hữu và hành vi mở tiếp là hai loại bằng chứng khác nhau.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AFFINITY • KẾT QUẢ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Temporal tăng MAP@7 khoảng 17,7% so với popularity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Validation: 12/2015 → 01/2016. Test: bốn mốc 01–04/2016, mỗi mốc dự báo t+1.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606040"/>
          <a:ext cx="7040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38160" y="2606040"/>
            <a:ext cx="329184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280720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Đã khóa trên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56432"/>
            <a:ext cx="28346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Temporal + cả hai: +17,4% so với popularity.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Thêm RFM/lifecycle chưa vượt temporal trên MAP@7 trung bình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Đầu ra cuối kỳ: gợi ý cho 956.645 khách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Chốt danh mục 05/2016 để tạo Top 7 cho 06/2016; chưa có nhãn tháng 06 để đánh giá.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RFM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Chọn nhóm theo mục tiêu;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Champion chưa chắc ưu tiên.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0604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80720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56432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Theo dõi trạng thái và lý do;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vắng mặt là proxy.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0604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80720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C95"/>
                </a:solidFill>
                <a:latin typeface="Arial"/>
              </a:defRPr>
            </a:pPr>
            <a:r>
              <a:t>Affinity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56432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Temporal cải thiện ranking;</a:t>
            </a:r>
          </a:p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t>cần test chiến dịch thực tế.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Tiếp theo: thêm mốc test, khoảng tin cậy và kiểm chứng bán chéo thực tế.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411480"/>
            <a:ext cx="91440" cy="30175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GIẢI THÍCH KHI HỎI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02C46"/>
                </a:solidFill>
                <a:latin typeface="Arial"/>
              </a:defRPr>
            </a:pPr>
            <a:r>
              <a:t>Phụ lục: ba phép đo dùng ba cửa sổ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17285"/>
                </a:solidFill>
                <a:latin typeface="Arial"/>
              </a:defRPr>
            </a:pPr>
            <a:r>
              <a:t>Không so trực tiếp Lift@10% của RFM với MAP@7 của affinity.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881360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17285"/>
                </a:solidFill>
                <a:latin typeface="Arial"/>
              </a:defRPr>
            </a:pPr>
            <a:r>
              <a:t>SANTANDER  /  TRACK DS  •  RFM · LIFECYCLE · 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285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6032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Phần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Đo gì?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Khoảng thời gian</a:t>
                      </a:r>
                    </a:p>
                  </a:txBody>
                  <a:tcPr marL="146304" marT="91440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RFM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Có ≥1 acquisition / sản phẩm mới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Bất kỳ lúc nào trong t+1…t+3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Lifecycle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Active, quay lại, acquisition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Đúng t+h hoặc từng trong h tháng</a:t>
                      </a:r>
                    </a:p>
                  </a:txBody>
                  <a:tcPr marL="146304" marT="91440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Affinity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Thứ tự sản phẩm trong Top 7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384D"/>
                          </a:solidFill>
                          <a:latin typeface="Arial"/>
                        </a:defRPr>
                      </a:pPr>
                      <a:r>
                        <a:t>Tháng t+1</a:t>
                      </a:r>
                    </a:p>
                  </a:txBody>
                  <a:tcPr marL="146304" marT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009162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84D"/>
                </a:solidFill>
                <a:latin typeface="Arial"/>
              </a:defRPr>
            </a:pPr>
            <a:r>
              <a:rPr dirty="0"/>
              <a:t>At-risk / Churned </a:t>
            </a:r>
            <a:r>
              <a:rPr dirty="0" err="1"/>
              <a:t>tại</a:t>
            </a:r>
            <a:r>
              <a:rPr dirty="0"/>
              <a:t> t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quay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rồi</a:t>
            </a:r>
            <a:r>
              <a:rPr dirty="0"/>
              <a:t> acquisition ở </a:t>
            </a:r>
            <a:r>
              <a:rPr dirty="0" err="1"/>
              <a:t>t+3</a:t>
            </a:r>
            <a:r>
              <a:rPr dirty="0"/>
              <a:t>.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5,31% / 5,02%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(51,44% / 12,50%).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669280"/>
            <a:ext cx="10881360" cy="548640"/>
          </a:xfrm>
          <a:prstGeom prst="roundRect">
            <a:avLst/>
          </a:prstGeom>
          <a:solidFill>
            <a:srgbClr val="10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5788152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Luôn ghi rõ: nhóm ở tháng nào, kết quả ở tháng nào và mẫu số nào.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2676</Words>
  <Application>Microsoft Office PowerPoint</Application>
  <PresentationFormat>Widescreen</PresentationFormat>
  <Paragraphs>264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Trần Đức Thiện</cp:lastModifiedBy>
  <cp:revision>2</cp:revision>
  <dcterms:created xsi:type="dcterms:W3CDTF">2013-01-27T09:14:16Z</dcterms:created>
  <dcterms:modified xsi:type="dcterms:W3CDTF">2026-10-06T06:59:21Z</dcterms:modified>
  <cp:category/>
</cp:coreProperties>
</file>