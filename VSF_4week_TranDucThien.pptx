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56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53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31" y="689629"/>
            <a:ext cx="10566538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1996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1996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31" y="1268273"/>
            <a:ext cx="10566469" cy="477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31" y="689629"/>
            <a:ext cx="10566538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1996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1996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31" y="1268273"/>
            <a:ext cx="10566469" cy="477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457200"/>
            <a:ext cx="10883534" cy="166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763243"/>
            <a:ext cx="10883534" cy="25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9"/>
              </a:lnSpc>
              <a:buNone/>
            </a:pPr>
            <a:r>
              <a:rPr lang="en-US" sz="1654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kết quả giữa các cách tính M</a:t>
            </a:r>
            <a:endParaRPr lang="en-US" sz="1654" dirty="0"/>
          </a:p>
        </p:txBody>
      </p:sp>
      <p:sp>
        <p:nvSpPr>
          <p:cNvPr id="4" name="Shape 2"/>
          <p:cNvSpPr/>
          <p:nvPr/>
        </p:nvSpPr>
        <p:spPr>
          <a:xfrm>
            <a:off x="815906" y="1161498"/>
            <a:ext cx="5200719" cy="828123"/>
          </a:xfrm>
          <a:prstGeom prst="roundRect">
            <a:avLst>
              <a:gd name="adj" fmla="val 8818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9857" y="1317349"/>
            <a:ext cx="4957201" cy="147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9857" y="1503294"/>
            <a:ext cx="4957201" cy="355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97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cách tính M có kết quả theo từng tháng: kết hợp làm mượt, kết hợp ngưỡng cứng, riêng lẻ cộng thô, riêng lẻ hiệu chỉnh, theo danh mục.</a:t>
            </a:r>
            <a:endParaRPr lang="en-US" sz="971" dirty="0"/>
          </a:p>
        </p:txBody>
      </p:sp>
      <p:sp>
        <p:nvSpPr>
          <p:cNvPr id="7" name="Shape 5"/>
          <p:cNvSpPr/>
          <p:nvPr/>
        </p:nvSpPr>
        <p:spPr>
          <a:xfrm>
            <a:off x="6175375" y="1161498"/>
            <a:ext cx="5200719" cy="828123"/>
          </a:xfrm>
          <a:prstGeom prst="roundRect">
            <a:avLst>
              <a:gd name="adj" fmla="val 8818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69326" y="1317349"/>
            <a:ext cx="4957201" cy="18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gì</a:t>
            </a:r>
            <a:endParaRPr lang="en-US" sz="909" dirty="0"/>
          </a:p>
        </p:txBody>
      </p:sp>
      <p:sp>
        <p:nvSpPr>
          <p:cNvPr id="9" name="Text 7"/>
          <p:cNvSpPr/>
          <p:nvPr/>
        </p:nvSpPr>
        <p:spPr>
          <a:xfrm>
            <a:off x="6369326" y="1542636"/>
            <a:ext cx="4957201" cy="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8"/>
              </a:lnSpc>
              <a:buNone/>
            </a:pPr>
            <a:r>
              <a:rPr lang="en-US" sz="858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trên toàn tập khách, trung bình 5 tháng đánh giá (12/2015 → 01/2016 đến 04 → 05/2016), cùng mẫu (notebook 01).</a:t>
            </a:r>
            <a:endParaRPr lang="en-US" sz="858" dirty="0"/>
          </a:p>
        </p:txBody>
      </p:sp>
      <p:sp>
        <p:nvSpPr>
          <p:cNvPr id="10" name="Shape 8"/>
          <p:cNvSpPr/>
          <p:nvPr/>
        </p:nvSpPr>
        <p:spPr>
          <a:xfrm>
            <a:off x="815906" y="2161001"/>
            <a:ext cx="10560188" cy="3091035"/>
          </a:xfrm>
          <a:prstGeom prst="roundRect">
            <a:avLst>
              <a:gd name="adj" fmla="val 2362"/>
            </a:avLst>
          </a:prstGeom>
          <a:noFill/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9857" y="2291383"/>
            <a:ext cx="10477455" cy="184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· trung bình 5 tháng</a:t>
            </a:r>
            <a:endParaRPr lang="en-US" sz="909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483" y="2533235"/>
          <a:ext cx="10165659" cy="2394191"/>
        </p:xfrm>
        <a:graphic>
          <a:graphicData uri="http://schemas.openxmlformats.org/drawingml/2006/table">
            <a:tbl>
              <a:tblPr/>
              <a:tblGrid>
                <a:gridCol w="145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2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816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 M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ROC_AUC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Average_Precision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Precision10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Recall10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Lift10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16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kết hợp làm mượt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0,7589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0,1862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0,1555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0,4891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4,8906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0,0278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111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kết hợp ngưỡng cứng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0,7569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0,1724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0,1535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0,4824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4,8236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0,0281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16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riêng lẻ cộng thô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0,7359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0,0766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0,1049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0,3287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3,2870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816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riêng lẻ hiệu chỉnh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0,7419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0,0872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0,1122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0,3508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3,5082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0,0294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816">
                <a:tc>
                  <a:txBody>
                    <a:bodyPr/>
                    <a:lstStyle/>
                    <a:p>
                      <a:pPr marL="0" indent="0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theo danh mục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0,7578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0,2072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0,1565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0,4923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4,9229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537"/>
                        </a:lnSpc>
                        <a:buNone/>
                      </a:pPr>
                      <a:r>
                        <a:rPr lang="en-US" sz="1098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0,0274</a:t>
                      </a:r>
                      <a:endParaRPr lang="en-US" sz="109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009857" y="5003627"/>
            <a:ext cx="10477455" cy="143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46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của M riêng lẻ cộng thô là NaN vì điểm cộng thô không phải xác suất. Hệ số chỉ học từ dữ liệu có tháng kết quả ≤ tháng chấm.</a:t>
            </a:r>
            <a:endParaRPr lang="en-US" sz="746" dirty="0"/>
          </a:p>
        </p:txBody>
      </p:sp>
      <p:pic>
        <p:nvPicPr>
          <p:cNvPr id="14" name="Image 0" descr="rect"/>
          <p:cNvPicPr>
            <a:picLocks noChangeAspect="1"/>
          </p:cNvPicPr>
          <p:nvPr/>
        </p:nvPicPr>
        <p:blipFill>
          <a:blip r:embed="rId3"/>
          <a:srcRect t="-68" b="-68"/>
          <a:stretch/>
        </p:blipFill>
        <p:spPr>
          <a:xfrm>
            <a:off x="812731" y="5420243"/>
            <a:ext cx="50731" cy="1524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90393" y="5420243"/>
            <a:ext cx="11201607" cy="955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theo danh mục cao nhất ở AP (0,2072), Lift10 (4,9229) và thấp nhất ở Brier (0,0274); M kết hợp làm mượt sát ngay sau.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457200"/>
            <a:ext cx="10883534" cy="19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5"/>
              </a:lnSpc>
              <a:buNone/>
            </a:pPr>
            <a:r>
              <a:rPr lang="en-US" sz="947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47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788401"/>
            <a:ext cx="10883534" cy="29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2"/>
              </a:lnSpc>
              <a:buNone/>
            </a:pPr>
            <a:r>
              <a:rPr lang="en-US" sz="1974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Lift10 của từng cách tính M theo tháng</a:t>
            </a:r>
            <a:endParaRPr lang="en-US" sz="1974" dirty="0"/>
          </a:p>
        </p:txBody>
      </p:sp>
      <p:sp>
        <p:nvSpPr>
          <p:cNvPr id="4" name="Shape 2"/>
          <p:cNvSpPr/>
          <p:nvPr/>
        </p:nvSpPr>
        <p:spPr>
          <a:xfrm>
            <a:off x="815906" y="1227862"/>
            <a:ext cx="5200719" cy="80493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9857" y="1383713"/>
            <a:ext cx="4957201" cy="178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9857" y="1600718"/>
            <a:ext cx="500359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17"/>
              </a:lnSpc>
              <a:buNone/>
            </a:pPr>
            <a:r>
              <a:rPr lang="en-US" sz="976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năm cách tính M, mỗi tháng đánh giá một cột: từ 12/2015 → 01/2016 đến 04 → 05/2016.</a:t>
            </a:r>
            <a:endParaRPr lang="en-US" sz="976" dirty="0"/>
          </a:p>
        </p:txBody>
      </p:sp>
      <p:sp>
        <p:nvSpPr>
          <p:cNvPr id="7" name="Shape 5"/>
          <p:cNvSpPr/>
          <p:nvPr/>
        </p:nvSpPr>
        <p:spPr>
          <a:xfrm>
            <a:off x="6175375" y="1227862"/>
            <a:ext cx="5200719" cy="80493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69326" y="1383713"/>
            <a:ext cx="4957201" cy="178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gì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69326" y="1600718"/>
            <a:ext cx="500359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44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Lift@10% cho 10% khách có điểm M cao nhất, rồi xem mức lift có giữ qua các tháng không (notebook 01).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815906" y="2204175"/>
            <a:ext cx="10560188" cy="2881589"/>
          </a:xfrm>
          <a:prstGeom prst="roundRect">
            <a:avLst>
              <a:gd name="adj" fmla="val 2534"/>
            </a:avLst>
          </a:prstGeom>
          <a:noFill/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9857" y="2334557"/>
            <a:ext cx="10477455" cy="213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· Lift10 theo tháng</a:t>
            </a:r>
            <a:endParaRPr lang="en-US" sz="1088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357166"/>
              </p:ext>
            </p:extLst>
          </p:nvPr>
        </p:nvGraphicFramePr>
        <p:xfrm>
          <a:off x="985114" y="2605812"/>
          <a:ext cx="10197031" cy="2135052"/>
        </p:xfrm>
        <a:graphic>
          <a:graphicData uri="http://schemas.openxmlformats.org/drawingml/2006/table">
            <a:tbl>
              <a:tblPr/>
              <a:tblGrid>
                <a:gridCol w="15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0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 M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12/2015 → 01/2016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→ 02/2016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→ 03/2016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→ 04/2016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→ 05/2016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kết hợp làm mượt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4,4876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5,5804</a:t>
                      </a:r>
                      <a:endParaRPr lang="en-US" sz="1037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4,6926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4,7217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4,9704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kết hợp ngưỡng cứng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4,4065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5,5247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4,6403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4,6451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4,9015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riêng lẻ cộng thô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2,9009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3,9254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3,2558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3,1411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3,2118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riêng lẻ hiệu chỉnh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3,0859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4,2988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3,4365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3,3266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3,3934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842">
                <a:tc>
                  <a:txBody>
                    <a:bodyPr/>
                    <a:lstStyle/>
                    <a:p>
                      <a:pPr marL="0" indent="0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theo danh mục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4,5295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5,5791</a:t>
                      </a:r>
                      <a:endParaRPr lang="en-US" sz="1037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4,7132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4,7577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52"/>
                        </a:lnSpc>
                        <a:buNone/>
                      </a:pPr>
                      <a:r>
                        <a:rPr lang="en-US" sz="1037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5,0354</a:t>
                      </a:r>
                      <a:endParaRPr lang="en-US" sz="1037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009857" y="4815509"/>
            <a:ext cx="10477455" cy="16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1"/>
              </a:lnSpc>
              <a:buNone/>
            </a:pPr>
            <a:r>
              <a:rPr lang="en-US" sz="86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01 → 02/2016 cao hơn hẳn ở mọi cách tính (tỷ lệ mở tháng đó cao bất thường), nên đọc theo từng tháng, không gộp trung bình thô.</a:t>
            </a:r>
            <a:endParaRPr lang="en-US" sz="863" dirty="0"/>
          </a:p>
        </p:txBody>
      </p:sp>
      <p:pic>
        <p:nvPicPr>
          <p:cNvPr id="14" name="Image 0" descr="rect"/>
          <p:cNvPicPr>
            <a:picLocks noChangeAspect="1"/>
          </p:cNvPicPr>
          <p:nvPr/>
        </p:nvPicPr>
        <p:blipFill>
          <a:blip r:embed="rId3"/>
          <a:srcRect l="-1126" r="-1126"/>
          <a:stretch/>
        </p:blipFill>
        <p:spPr>
          <a:xfrm>
            <a:off x="812731" y="5253969"/>
            <a:ext cx="45451" cy="1524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5113" y="5253969"/>
            <a:ext cx="10705981" cy="112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theo danh mục cao nhất ở 4 trong 5 tháng; tháng 01 → 02/2016 M kết hợp làm mượt nhỉnh hơn 0,0013. Hai cách riêng lẻ thấp hơn rõ ở mọi tháng.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16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37139"/>
            <a:ext cx="10883534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19"/>
              </a:lnSpc>
              <a:buNone/>
            </a:pPr>
            <a:r>
              <a:rPr lang="en-US" sz="1563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kết quả giữa các cách chọn RFM</a:t>
            </a:r>
            <a:endParaRPr lang="en-US" sz="1563" dirty="0"/>
          </a:p>
        </p:txBody>
      </p:sp>
      <p:sp>
        <p:nvSpPr>
          <p:cNvPr id="4" name="Text 2"/>
          <p:cNvSpPr/>
          <p:nvPr/>
        </p:nvSpPr>
        <p:spPr>
          <a:xfrm>
            <a:off x="812731" y="965752"/>
            <a:ext cx="10883534" cy="157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25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đã có event, trung bình 5 tháng test (12/2015 → 01/2016 đến 04 → 05/2016); biên, scaler và tâm cụm fit ở 11/2015 rồi đóng băng (notebook 03).</a:t>
            </a:r>
            <a:endParaRPr lang="en-US" sz="8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357" y="1218372"/>
          <a:ext cx="10559912" cy="3947904"/>
        </p:xfrm>
        <a:graphic>
          <a:graphicData uri="http://schemas.openxmlformats.org/drawingml/2006/table">
            <a:tbl>
              <a:tblPr/>
              <a:tblGrid>
                <a:gridCol w="1319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tệ nhất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Lift10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Lift10 tệ nhất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REDA × F4 × M5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0,2753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0,2256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2,6819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2,4261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0,0979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0,7382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R4 × F4 × M5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0,2679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0,2251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2,6181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2,3292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0,7349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REDA × F3 × M5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0,2675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2,3915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0,7364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555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0,2172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2,6120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2,3669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0,7298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R4 × F3 × M5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0,2607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2,5714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2,1741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0,7331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R6 × F3 × M5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0,2534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0,2075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2,5089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2,2221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0,0991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0,7305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R4 × F3 × M3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0,2267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0,1928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2,2855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2,1303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0,6961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R6 × F3 × M3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0,1853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2,2771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2,0884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0,6920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333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0,2205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0,1833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2,2859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2,1083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0,6877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0,2195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0,1857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2,4107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2,2629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0,1008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0,6910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718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0,2186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0,1834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2,3950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2,1886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0,6897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22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0,2166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0,1820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2,4751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2,3284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0,6857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22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0,2136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0,1797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2,2639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2,0395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0,1018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0,6851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22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0,1989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0,1680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2,0896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1,9717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0,6723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22">
                <a:tc>
                  <a:txBody>
                    <a:bodyPr/>
                    <a:lstStyle/>
                    <a:p>
                      <a:pPr marL="0" indent="0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0,1912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0,1626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1,9063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1,8017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0,1023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192"/>
                        </a:lnSpc>
                        <a:buNone/>
                      </a:pPr>
                      <a:r>
                        <a:rPr lang="en-US" sz="85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0,6705</a:t>
                      </a:r>
                      <a:endParaRPr lang="en-US" sz="85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44450" marB="444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31" y="5280577"/>
            <a:ext cx="10883534" cy="14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46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giữa các hybrid nhỏ và chưa có khoảng tin cậy; biên REDA và F4 đề xuất sau khi đã xem dữ liệu nên đây là development backtest.</a:t>
            </a:r>
            <a:endParaRPr lang="en-US" sz="746" dirty="0"/>
          </a:p>
        </p:txBody>
      </p:sp>
      <p:pic>
        <p:nvPicPr>
          <p:cNvPr id="7" name="Image 0" descr="rect"/>
          <p:cNvPicPr>
            <a:picLocks noChangeAspect="1"/>
          </p:cNvPicPr>
          <p:nvPr/>
        </p:nvPicPr>
        <p:blipFill>
          <a:blip r:embed="rId3"/>
          <a:srcRect t="-68" b="-68"/>
          <a:stretch/>
        </p:blipFill>
        <p:spPr>
          <a:xfrm>
            <a:off x="812731" y="5516321"/>
            <a:ext cx="50731" cy="152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393" y="5516321"/>
            <a:ext cx="10996281" cy="96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REDA × F4 × M5 dẫn đầu AP, Lift10, Brier và AUC, hơn Quantile 555 khoảng 4,2% AP; K-means cao nhất chỉ 0,2195 AP.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08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3"/>
              </a:lnSpc>
              <a:buNone/>
            </a:pPr>
            <a:r>
              <a:rPr lang="en-US" sz="1052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052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78242"/>
            <a:ext cx="10883534" cy="30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7"/>
              </a:lnSpc>
              <a:buNone/>
            </a:pPr>
            <a:r>
              <a:rPr lang="en-US" sz="2016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từng nhóm RFM qua các tháng</a:t>
            </a:r>
            <a:endParaRPr lang="en-US" sz="2016" dirty="0"/>
          </a:p>
        </p:txBody>
      </p:sp>
      <p:sp>
        <p:nvSpPr>
          <p:cNvPr id="4" name="Text 2"/>
          <p:cNvSpPr/>
          <p:nvPr/>
        </p:nvSpPr>
        <p:spPr>
          <a:xfrm>
            <a:off x="812731" y="1068974"/>
            <a:ext cx="10883534" cy="195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3"/>
              </a:lnSpc>
              <a:buNone/>
            </a:pPr>
            <a:r>
              <a:rPr lang="en-US" sz="1056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acquisition tháng sau của từng nhóm qua 5 tháng test (45 nhóm; hiển thị 10 nhóm có rate cao nhất và nhóm thấp nhất), xếp theo rate trung bình.</a:t>
            </a:r>
            <a:endParaRPr lang="en-US" sz="1056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357" y="1359694"/>
          <a:ext cx="10559910" cy="3347004"/>
        </p:xfrm>
        <a:graphic>
          <a:graphicData uri="http://schemas.openxmlformats.org/drawingml/2006/table">
            <a:tbl>
              <a:tblPr/>
              <a:tblGrid>
                <a:gridCol w="175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9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9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9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(Hybrid R4 × F3 × M5)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tại 11/2015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TB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TB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nhất–cao nhất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Biên độ (điểm %)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R2_F3_M5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38,57%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33,53–54,62%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21,09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R2_F3_M1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28,29–40,17%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11,88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R1_F3_M5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5.073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32,41%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26,25–47,82%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21,57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R1_F1_M5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2.423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30,85%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26,17–34,83%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R3_F3_M5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20,33–52,73%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32,40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R1_F2_M5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2.873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26,74%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23,52–36,64%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13,12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R2_F2_M5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25,42%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19,30–36,90%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17,60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R1_F3_M1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1.919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25,05%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21,22–32,63%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R3_F2_M5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3.183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16,08–49,83%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33,75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R2_F1_M5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1.861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22,20%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15,26–31,00%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15,74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917">
                <a:tc>
                  <a:txBody>
                    <a:bodyPr/>
                    <a:lstStyle/>
                    <a:p>
                      <a:pPr marL="0" indent="0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R3_F1_M2 (thấp nhất)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8.125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1,94–2,74%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244"/>
                        </a:lnSpc>
                        <a:buNone/>
                      </a:pPr>
                      <a:r>
                        <a:rPr lang="en-US" sz="889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889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7150" marB="571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31" y="4817475"/>
            <a:ext cx="11379269" cy="33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53"/>
              </a:lnSpc>
              <a:buNone/>
            </a:pPr>
            <a:r>
              <a:rPr lang="en-US" sz="964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cùng nhóm đã có event: trung bình 12,12% (10,78–16,20%). Nhóm nhỏ như R3_F3_M5 (1.009 khách) dao động mạnh hơn do mẫu ít. Thành phần khách trong nhóm có thể đổi nên chưa quy thành đổi hành vi.</a:t>
            </a:r>
            <a:endParaRPr lang="en-US" sz="964" dirty="0"/>
          </a:p>
        </p:txBody>
      </p:sp>
      <p:pic>
        <p:nvPicPr>
          <p:cNvPr id="7" name="Image 0" descr="rect"/>
          <p:cNvPicPr>
            <a:picLocks noChangeAspect="1"/>
          </p:cNvPicPr>
          <p:nvPr/>
        </p:nvPicPr>
        <p:blipFill>
          <a:blip r:embed="rId3"/>
          <a:srcRect t="-1111" b="-1111"/>
          <a:stretch/>
        </p:blipFill>
        <p:spPr>
          <a:xfrm>
            <a:off x="812731" y="5245272"/>
            <a:ext cx="31060" cy="152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0722" y="5245272"/>
            <a:ext cx="10720803" cy="123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 trung bình giữa các nhóm cách nhau rất xa (38,57% so với 2,29%) và thứ hạng nhóm bền (Spearman nhỏ nhất ≈ 0,9482), nhưng cùng một nhóm vẫn dao động: trong 10 nhóm cao nhất, biên độ từ 8,66 đến 33,75 điểm %.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457200"/>
            <a:ext cx="10883534" cy="256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789955"/>
            <a:ext cx="10883534" cy="40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lifecycle: năm trạng thái nối tiếp theo hiện diện</a:t>
            </a:r>
            <a:endParaRPr lang="en-US" sz="2700" dirty="0"/>
          </a:p>
        </p:txBody>
      </p:sp>
      <p:pic>
        <p:nvPicPr>
          <p:cNvPr id="4" name="Image 0" descr="Sơ đồ nối tiếp các trạng thái lifecycle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2731" y="1777966"/>
            <a:ext cx="10566227" cy="33018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2731" y="2984432"/>
            <a:ext cx="1396966" cy="888931"/>
          </a:xfrm>
          <a:prstGeom prst="roundRect">
            <a:avLst>
              <a:gd name="adj" fmla="val 11429"/>
            </a:avLst>
          </a:prstGeom>
          <a:solidFill>
            <a:srgbClr val="2A8F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21302" y="3125443"/>
            <a:ext cx="579824" cy="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61903" y="3519072"/>
            <a:ext cx="898622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8.533 khách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05150" y="2984432"/>
            <a:ext cx="1396966" cy="888931"/>
          </a:xfrm>
          <a:prstGeom prst="roundRect">
            <a:avLst>
              <a:gd name="adj" fmla="val 11429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10851" y="3125443"/>
            <a:ext cx="785564" cy="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261640" y="3519072"/>
            <a:ext cx="1083986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922.876 khách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7466" y="2984432"/>
            <a:ext cx="1396966" cy="888931"/>
          </a:xfrm>
          <a:prstGeom prst="roundRect">
            <a:avLst>
              <a:gd name="adj" fmla="val 11429"/>
            </a:avLst>
          </a:prstGeom>
          <a:solidFill>
            <a:srgbClr val="E0B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86901" y="3125443"/>
            <a:ext cx="817990" cy="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46637" y="3519072"/>
            <a:ext cx="898622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9.973 khách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9781" y="2984432"/>
            <a:ext cx="1396966" cy="888931"/>
          </a:xfrm>
          <a:prstGeom prst="roundRect">
            <a:avLst>
              <a:gd name="adj" fmla="val 11429"/>
            </a:avLst>
          </a:prstGeom>
          <a:solidFill>
            <a:srgbClr val="C84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49625" y="3125443"/>
            <a:ext cx="1077277" cy="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892612" y="3519072"/>
            <a:ext cx="991304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15.219 khách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982200" y="2984432"/>
            <a:ext cx="1396966" cy="888931"/>
          </a:xfrm>
          <a:prstGeom prst="roundRect">
            <a:avLst>
              <a:gd name="adj" fmla="val 11429"/>
            </a:avLst>
          </a:prstGeom>
          <a:solidFill>
            <a:srgbClr val="5B65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82782" y="3125443"/>
            <a:ext cx="1195802" cy="38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347163" y="3519072"/>
            <a:ext cx="667040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khách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84400" y="2971800"/>
            <a:ext cx="9461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tháng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76716" y="2971800"/>
            <a:ext cx="9461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vắng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tháng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9031" y="2971800"/>
            <a:ext cx="9461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vắng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tháng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61450" y="2781300"/>
            <a:ext cx="9461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lại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vắng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tháng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990850" y="1981200"/>
            <a:ext cx="3924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quay lại sau vắng dưới 6 tháng, về Active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22732" y="4635466"/>
            <a:ext cx="523232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chỉ ở tháng quay lại, tháng sau xét lại và về Active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2731" y="6238357"/>
            <a:ext cx="10883321" cy="238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khách tháng 05/2016. Churned là proxy mất quan sát trong panel, không phải xác nhận rời ngân hàng.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× RFM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735186"/>
            <a:ext cx="10883534" cy="368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4"/>
              </a:lnSpc>
              <a:buNone/>
            </a:pPr>
            <a:r>
              <a:rPr lang="en-US" sz="2477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bổ sung rất ít cho RFM</a:t>
            </a:r>
            <a:endParaRPr lang="en-US" sz="2477" dirty="0"/>
          </a:p>
        </p:txBody>
      </p:sp>
      <p:sp>
        <p:nvSpPr>
          <p:cNvPr id="4" name="Text 2"/>
          <p:cNvSpPr/>
          <p:nvPr/>
        </p:nvSpPr>
        <p:spPr>
          <a:xfrm>
            <a:off x="812731" y="1205325"/>
            <a:ext cx="10883534" cy="4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276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nhãn RFM và lifecycle theo customer_id + tháng; so RFM, Lifecycle, RFM + Lifecycle trên khách đã có event. Điểm nhóm là tỷ lệ acquisition lịch sử làm mượt (100 quan sát ảo), fit 11/2015, chấm trước rồi mới cập nhật (notebook 05).</a:t>
            </a:r>
            <a:endParaRPr lang="en-US" sz="1276" dirty="0"/>
          </a:p>
        </p:txBody>
      </p:sp>
      <p:sp>
        <p:nvSpPr>
          <p:cNvPr id="5" name="Text 3"/>
          <p:cNvSpPr/>
          <p:nvPr/>
        </p:nvSpPr>
        <p:spPr>
          <a:xfrm>
            <a:off x="812731" y="1754048"/>
            <a:ext cx="53109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· trung bình 5 tháng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357" y="2090840"/>
          <a:ext cx="5149610" cy="1971882"/>
        </p:xfrm>
        <a:graphic>
          <a:graphicData uri="http://schemas.openxmlformats.org/drawingml/2006/table">
            <a:tbl>
              <a:tblPr/>
              <a:tblGrid>
                <a:gridCol w="102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8565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65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RFM +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22931" y="1754048"/>
            <a:ext cx="53110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Lifecycle so với RFM, theo tháng</a:t>
            </a:r>
            <a:endParaRPr lang="en-US" sz="15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9557" y="2090840"/>
          <a:ext cx="5149712" cy="2264256"/>
        </p:xfrm>
        <a:graphic>
          <a:graphicData uri="http://schemas.openxmlformats.org/drawingml/2006/table">
            <a:tbl>
              <a:tblPr/>
              <a:tblGrid>
                <a:gridCol w="1287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Tháng chấm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ΔLift10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ΔBrier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+0,0571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376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9850" marB="698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2731" y="4437512"/>
            <a:ext cx="10883534" cy="414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18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ΔBrier = Brier(RFM + Lifecycle) − Brier(RFM), Brier thấp hơn là tốt. Benchmark cần snapshot cả tháng t và t+1 nên At-risk, Churned không nằm trong cohort này; khách còn lại gần như toàn Active, và chưa có ablation cho return/churn hay khoảng tin cậy.</a:t>
            </a:r>
            <a:endParaRPr lang="en-US" sz="1181" dirty="0"/>
          </a:p>
        </p:txBody>
      </p:sp>
      <p:pic>
        <p:nvPicPr>
          <p:cNvPr id="10" name="Image 0" descr="rect"/>
          <p:cNvPicPr>
            <a:picLocks noChangeAspect="1"/>
          </p:cNvPicPr>
          <p:nvPr/>
        </p:nvPicPr>
        <p:blipFill>
          <a:blip r:embed="rId3"/>
          <a:srcRect l="-1495" r="-1495"/>
          <a:stretch/>
        </p:blipFill>
        <p:spPr>
          <a:xfrm>
            <a:off x="812731" y="4953726"/>
            <a:ext cx="39239" cy="1524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8901" y="4953726"/>
            <a:ext cx="10712379" cy="152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Thêm lifecycle vào RFM chỉ tăng AP từ 0,2675 lên 0,2691 (ΔAP dương cả 5 tháng nhưng chỉ +0,0004 đến +0,0029); Lift10 chỉ nhích ở tháng 12/2015 và Brier gần như không đổi.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31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158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1158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714375"/>
            <a:ext cx="10883534" cy="33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6"/>
              </a:lnSpc>
              <a:buNone/>
            </a:pPr>
            <a:r>
              <a:rPr lang="en-US" sz="2242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Affinity: ba cách xếp hạng sản phẩm</a:t>
            </a:r>
            <a:endParaRPr lang="en-US" sz="2242" dirty="0"/>
          </a:p>
        </p:txBody>
      </p:sp>
      <p:sp>
        <p:nvSpPr>
          <p:cNvPr id="4" name="Text 2"/>
          <p:cNvSpPr/>
          <p:nvPr/>
        </p:nvSpPr>
        <p:spPr>
          <a:xfrm>
            <a:off x="812731" y="1153251"/>
            <a:ext cx="10883534" cy="40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162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đang có sản phẩm A, chưa có sản phẩm B: có nên gợi ý B không? Điểm = tỷ lệ ước lượng từ lịch sử, làm mượt về tỷ lệ chung, kết hợp bằng trọng số cố định; sản phẩm khách đã có bị loại khỏi Top 7.</a:t>
            </a:r>
            <a:endParaRPr lang="en-US" sz="1162" dirty="0"/>
          </a:p>
        </p:txBody>
      </p:sp>
      <p:sp>
        <p:nvSpPr>
          <p:cNvPr id="5" name="Shape 3"/>
          <p:cNvSpPr/>
          <p:nvPr/>
        </p:nvSpPr>
        <p:spPr>
          <a:xfrm>
            <a:off x="815906" y="1666633"/>
            <a:ext cx="3414160" cy="1862517"/>
          </a:xfrm>
          <a:prstGeom prst="roundRect">
            <a:avLst>
              <a:gd name="adj" fmla="val 3921"/>
            </a:avLst>
          </a:prstGeom>
          <a:noFill/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7123" y="1822484"/>
            <a:ext cx="3143279" cy="30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7123" y="2183191"/>
            <a:ext cx="3143279" cy="47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tỷ lệ khách chưa có B mở B ở tháng sau.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7123" y="2705202"/>
            <a:ext cx="3143279" cy="47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đơn giản: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gợi ý sản phẩm nhiều người mở nhất, không nhìn danh mục từng khách.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16" y="1666633"/>
            <a:ext cx="3414264" cy="1862517"/>
          </a:xfrm>
          <a:prstGeom prst="roundRect">
            <a:avLst>
              <a:gd name="adj" fmla="val 3921"/>
            </a:avLst>
          </a:prstGeom>
          <a:noFill/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0033" y="1822484"/>
            <a:ext cx="3143385" cy="27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74"/>
              </a:lnSpc>
              <a:buNone/>
            </a:pPr>
            <a:r>
              <a:rPr lang="en-US" sz="141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4570033" y="2143953"/>
            <a:ext cx="3143385" cy="60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7"/>
              </a:lnSpc>
              <a:buNone/>
            </a:pPr>
            <a:r>
              <a:rPr lang="en-US" sz="1235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</a:t>
            </a:r>
            <a:r>
              <a:rPr lang="en-US" sz="1235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khách có A thường cũng đang có B ở cùng một snapshot (support, confidence, lift).</a:t>
            </a:r>
            <a:endParaRPr lang="en-US" sz="1235" dirty="0"/>
          </a:p>
        </p:txBody>
      </p:sp>
      <p:sp>
        <p:nvSpPr>
          <p:cNvPr id="12" name="Text 10"/>
          <p:cNvSpPr/>
          <p:nvPr/>
        </p:nvSpPr>
        <p:spPr>
          <a:xfrm>
            <a:off x="4570033" y="2796725"/>
            <a:ext cx="3143385" cy="60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129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đơn giản:</a:t>
            </a:r>
            <a:r>
              <a:rPr lang="en-US" sz="1129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chọn sản phẩm hay đi cùng nhau; lift cao chưa chứng minh nên gợi ý B cho khách có A.</a:t>
            </a:r>
            <a:endParaRPr lang="en-US" sz="1129" dirty="0"/>
          </a:p>
        </p:txBody>
      </p:sp>
      <p:sp>
        <p:nvSpPr>
          <p:cNvPr id="13" name="Shape 11"/>
          <p:cNvSpPr/>
          <p:nvPr/>
        </p:nvSpPr>
        <p:spPr>
          <a:xfrm>
            <a:off x="7961830" y="1666633"/>
            <a:ext cx="3414264" cy="1862517"/>
          </a:xfrm>
          <a:prstGeom prst="roundRect">
            <a:avLst>
              <a:gd name="adj" fmla="val 3921"/>
            </a:avLst>
          </a:prstGeom>
          <a:noFill/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43046" y="1822484"/>
            <a:ext cx="3143385" cy="30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3046" y="2183191"/>
            <a:ext cx="3143385" cy="47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khách có A và chưa có B ở tháng t thường mở B ở tháng t+1.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43046" y="2705202"/>
            <a:ext cx="3143385" cy="47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đơn giản: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có thứ tự thời gian, bắt đúng việc khách mở thêm sản phẩm ở tháng sau.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906" y="3662431"/>
            <a:ext cx="10560188" cy="994086"/>
          </a:xfrm>
          <a:prstGeom prst="roundRect">
            <a:avLst>
              <a:gd name="adj" fmla="val 7346"/>
            </a:avLst>
          </a:prstGeom>
          <a:solidFill>
            <a:srgbClr val="F6F7F9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7123" y="3805548"/>
            <a:ext cx="10503688" cy="261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336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 bổ sung so với slide tuần trước</a:t>
            </a:r>
            <a:endParaRPr lang="en-US" sz="1336" dirty="0"/>
          </a:p>
        </p:txBody>
      </p:sp>
      <p:sp>
        <p:nvSpPr>
          <p:cNvPr id="19" name="Text 17"/>
          <p:cNvSpPr/>
          <p:nvPr/>
        </p:nvSpPr>
        <p:spPr>
          <a:xfrm>
            <a:off x="997123" y="4104757"/>
            <a:ext cx="10503688" cy="43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Apriori và item2vec; cửa sổ lịch sử 3 và 6 tháng (recent3, recent6); cộng điểm RFM và lifecycle (temporal_rfm, temporal_lifecycle, temporal_both); các cấu hình trọng số cố định (blend60, blend80, joint20). Từ 6 phương pháp lên 15 cấu hình.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2731" y="4786623"/>
            <a:ext cx="10883534" cy="20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4"/>
              </a:lnSpc>
              <a:buNone/>
            </a:pPr>
            <a:r>
              <a:rPr lang="en-US" sz="1095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đánh giá: chọn và khóa phương pháp ở validation 12/2015, đo MAP@7 trên test 01–04/2016 (notebook 06).</a:t>
            </a:r>
            <a:endParaRPr lang="en-US" sz="1095" dirty="0"/>
          </a:p>
        </p:txBody>
      </p:sp>
      <p:pic>
        <p:nvPicPr>
          <p:cNvPr id="21" name="Image 0" descr="rect"/>
          <p:cNvPicPr>
            <a:picLocks noChangeAspect="1"/>
          </p:cNvPicPr>
          <p:nvPr/>
        </p:nvPicPr>
        <p:blipFill>
          <a:blip r:embed="rId3"/>
          <a:srcRect l="-3455" r="-3455"/>
          <a:stretch/>
        </p:blipFill>
        <p:spPr>
          <a:xfrm>
            <a:off x="812731" y="5090387"/>
            <a:ext cx="47521" cy="1524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87183" y="5090387"/>
            <a:ext cx="10703848" cy="138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 cách khác nhau ở bằng chứng: độ phổ biến, đồng sở hữu cùng lúc, hay việc mở sản phẩm ở tháng kế tiếp; Temporal là nền cho các biến thể.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1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108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84870"/>
            <a:ext cx="10883534" cy="31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69"/>
              </a:lnSpc>
              <a:buNone/>
            </a:pPr>
            <a:r>
              <a:rPr lang="en-US" sz="2063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blend80: 80% temporal, 10% RFM, 10% lifecycle</a:t>
            </a:r>
            <a:endParaRPr lang="en-US" sz="2063" dirty="0"/>
          </a:p>
        </p:txBody>
      </p:sp>
      <p:sp>
        <p:nvSpPr>
          <p:cNvPr id="4" name="Text 2"/>
          <p:cNvSpPr/>
          <p:nvPr/>
        </p:nvSpPr>
        <p:spPr>
          <a:xfrm>
            <a:off x="812731" y="1085645"/>
            <a:ext cx="10883534" cy="20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109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có sản phẩm A, chưa có B: ba nguồn điểm cho B được gộp bằng trọng số cố định, sản phẩm khách đã có bị loại trước khi lấy Top 7.</a:t>
            </a:r>
            <a:endParaRPr lang="en-US" sz="1093" dirty="0"/>
          </a:p>
        </p:txBody>
      </p:sp>
      <p:sp>
        <p:nvSpPr>
          <p:cNvPr id="11" name="Box 11"/>
          <p:cNvSpPr/>
          <p:nvPr/>
        </p:nvSpPr>
        <p:spPr>
          <a:xfrm>
            <a:off x="812731" y="1750000"/>
            <a:ext cx="2250000" cy="830000"/>
          </a:xfrm>
          <a:prstGeom prst="roundRect">
            <a:avLst>
              <a:gd name="adj" fmla="val 8000"/>
            </a:avLst>
          </a:prstGeom>
          <a:solidFill>
            <a:srgbClr val="2A8F9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khách</a:t>
            </a:r>
            <a:endParaRPr lang="vi-VN" sz="16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1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cờ sản phẩm tại tháng t</a:t>
            </a:r>
            <a:endParaRPr lang="vi-VN" sz="1100" dirty="0"/>
          </a:p>
        </p:txBody>
      </p:sp>
      <p:cxnSp>
        <p:nvCxnSpPr>
          <p:cNvPr id="12" name="Arrow 12"/>
          <p:cNvCxnSpPr/>
          <p:nvPr/>
        </p:nvCxnSpPr>
        <p:spPr>
          <a:xfrm>
            <a:off x="3122731" y="2165000"/>
            <a:ext cx="36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3550000" y="1750000"/>
            <a:ext cx="3150000" cy="83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(T)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× P(mở B tháng sau | có A, chưa có B)</a:t>
            </a:r>
            <a:endParaRPr lang="vi-VN" sz="105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+ 0,5 × độ phổ biến</a:t>
            </a:r>
            <a:endParaRPr lang="vi-VN" sz="1050" dirty="0"/>
          </a:p>
        </p:txBody>
      </p:sp>
      <p:cxnSp>
        <p:nvCxnSpPr>
          <p:cNvPr id="14" name="Arrow 14"/>
          <p:cNvCxnSpPr/>
          <p:nvPr/>
        </p:nvCxnSpPr>
        <p:spPr>
          <a:xfrm>
            <a:off x="6760000" y="2165000"/>
            <a:ext cx="930000" cy="105000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15" name="Text 15"/>
          <p:cNvSpPr txBox="1"/>
          <p:nvPr/>
        </p:nvSpPr>
        <p:spPr>
          <a:xfrm>
            <a:off x="6820000" y="1865000"/>
            <a:ext cx="5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6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vi-VN" sz="1600" dirty="0"/>
          </a:p>
        </p:txBody>
      </p:sp>
      <p:sp>
        <p:nvSpPr>
          <p:cNvPr id="16" name="Box 16"/>
          <p:cNvSpPr/>
          <p:nvPr/>
        </p:nvSpPr>
        <p:spPr>
          <a:xfrm>
            <a:off x="812731" y="2800000"/>
            <a:ext cx="2250000" cy="8300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RFM</a:t>
            </a:r>
            <a:endParaRPr lang="vi-VN" sz="16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1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REDA × F3 × M5</a:t>
            </a:r>
            <a:endParaRPr lang="vi-VN" sz="1100" dirty="0"/>
          </a:p>
        </p:txBody>
      </p:sp>
      <p:cxnSp>
        <p:nvCxnSpPr>
          <p:cNvPr id="17" name="Arrow 17"/>
          <p:cNvCxnSpPr/>
          <p:nvPr/>
        </p:nvCxnSpPr>
        <p:spPr>
          <a:xfrm>
            <a:off x="3122731" y="3215000"/>
            <a:ext cx="36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18" name="Box 18"/>
          <p:cNvSpPr/>
          <p:nvPr/>
        </p:nvSpPr>
        <p:spPr>
          <a:xfrm>
            <a:off x="3550000" y="2800000"/>
            <a:ext cx="3150000" cy="83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mở theo nhóm RFM (R)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mượt về tỷ lệ chung</a:t>
            </a:r>
            <a:endParaRPr lang="vi-VN" sz="105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chưa có event: bỏ thành phần</a:t>
            </a:r>
            <a:endParaRPr lang="vi-VN" sz="1050" dirty="0"/>
          </a:p>
        </p:txBody>
      </p:sp>
      <p:cxnSp>
        <p:nvCxnSpPr>
          <p:cNvPr id="19" name="Arrow 19"/>
          <p:cNvCxnSpPr/>
          <p:nvPr/>
        </p:nvCxnSpPr>
        <p:spPr>
          <a:xfrm>
            <a:off x="6760000" y="3215000"/>
            <a:ext cx="930000" cy="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20" name="Text 20"/>
          <p:cNvSpPr txBox="1"/>
          <p:nvPr/>
        </p:nvSpPr>
        <p:spPr>
          <a:xfrm>
            <a:off x="6820000" y="2915000"/>
            <a:ext cx="5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6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</a:t>
            </a:r>
            <a:endParaRPr lang="vi-VN" sz="1600" dirty="0"/>
          </a:p>
        </p:txBody>
      </p:sp>
      <p:sp>
        <p:nvSpPr>
          <p:cNvPr id="21" name="Box 21"/>
          <p:cNvSpPr/>
          <p:nvPr/>
        </p:nvSpPr>
        <p:spPr>
          <a:xfrm>
            <a:off x="812731" y="3850000"/>
            <a:ext cx="2250000" cy="830000"/>
          </a:xfrm>
          <a:prstGeom prst="roundRect">
            <a:avLst>
              <a:gd name="adj" fmla="val 8000"/>
            </a:avLst>
          </a:prstGeom>
          <a:solidFill>
            <a:srgbClr val="E0B04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vi-VN" sz="16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100" b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Active · At-risk · Churned · Win-back</a:t>
            </a:r>
            <a:endParaRPr lang="vi-VN" sz="1100" dirty="0"/>
          </a:p>
        </p:txBody>
      </p:sp>
      <p:cxnSp>
        <p:nvCxnSpPr>
          <p:cNvPr id="22" name="Arrow 22"/>
          <p:cNvCxnSpPr/>
          <p:nvPr/>
        </p:nvCxnSpPr>
        <p:spPr>
          <a:xfrm>
            <a:off x="3122731" y="4265000"/>
            <a:ext cx="36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3550000" y="3850000"/>
            <a:ext cx="3150000" cy="83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mở theo lifecycle (L)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mượt về tỷ lệ chung</a:t>
            </a:r>
            <a:endParaRPr lang="vi-VN" sz="1050" dirty="0"/>
          </a:p>
        </p:txBody>
      </p:sp>
      <p:cxnSp>
        <p:nvCxnSpPr>
          <p:cNvPr id="24" name="Arrow 24"/>
          <p:cNvCxnSpPr/>
          <p:nvPr/>
        </p:nvCxnSpPr>
        <p:spPr>
          <a:xfrm flipV="1">
            <a:off x="6760000" y="3215000"/>
            <a:ext cx="930000" cy="105000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25" name="Text 25"/>
          <p:cNvSpPr txBox="1"/>
          <p:nvPr/>
        </p:nvSpPr>
        <p:spPr>
          <a:xfrm>
            <a:off x="6820000" y="4325000"/>
            <a:ext cx="5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6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</a:t>
            </a:r>
            <a:endParaRPr lang="vi-VN" sz="1600" dirty="0"/>
          </a:p>
        </p:txBody>
      </p:sp>
      <p:sp>
        <p:nvSpPr>
          <p:cNvPr id="26" name="Box 26"/>
          <p:cNvSpPr/>
          <p:nvPr/>
        </p:nvSpPr>
        <p:spPr>
          <a:xfrm>
            <a:off x="7750000" y="1750000"/>
            <a:ext cx="2000000" cy="2930000"/>
          </a:xfrm>
          <a:prstGeom prst="roundRect">
            <a:avLst>
              <a:gd name="adj" fmla="val 8000"/>
            </a:avLst>
          </a:prstGeom>
          <a:solidFill>
            <a:srgbClr val="C8481C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cho B</a:t>
            </a:r>
            <a:endParaRPr lang="vi-VN" sz="16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2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(0,8·T + 0,1·R + 0,1·L)</a:t>
            </a:r>
            <a:endParaRPr lang="vi-VN" sz="12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2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tổng trọng số có mặt</a:t>
            </a:r>
            <a:endParaRPr lang="vi-VN" sz="12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1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sản phẩm khách đã có</a:t>
            </a:r>
            <a:endParaRPr lang="vi-VN" sz="1100" dirty="0"/>
          </a:p>
        </p:txBody>
      </p:sp>
      <p:cxnSp>
        <p:nvCxnSpPr>
          <p:cNvPr id="27" name="Arrow 27"/>
          <p:cNvCxnSpPr/>
          <p:nvPr/>
        </p:nvCxnSpPr>
        <p:spPr>
          <a:xfrm>
            <a:off x="9810000" y="3215000"/>
            <a:ext cx="280000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8" name="Box 28"/>
          <p:cNvSpPr/>
          <p:nvPr/>
        </p:nvSpPr>
        <p:spPr>
          <a:xfrm>
            <a:off x="10150000" y="2615000"/>
            <a:ext cx="1540000" cy="12000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</a:t>
            </a:r>
            <a:endParaRPr lang="vi-VN" sz="20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1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gợi ý tháng t+1</a:t>
            </a:r>
            <a:endParaRPr lang="vi-VN" sz="1100" dirty="0"/>
          </a:p>
        </p:txBody>
      </p:sp>
      <p:sp>
        <p:nvSpPr>
          <p:cNvPr id="29" name="Bar 29"/>
          <p:cNvSpPr/>
          <p:nvPr/>
        </p:nvSpPr>
        <p:spPr>
          <a:xfrm>
            <a:off x="812731" y="5200000"/>
            <a:ext cx="45720" cy="700000"/>
          </a:xfrm>
          <a:prstGeom prst="rect">
            <a:avLst/>
          </a:prstGeom>
          <a:solidFill>
            <a:srgbClr val="C848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992731" y="5200000"/>
            <a:ext cx="107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3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 </a:t>
            </a: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blend80 đạt MAP@7 mọi khách 0,024757, cao nhất trong 15 cấu hình và hơn Temporal 0,94%; RFM và lifecycle chỉ góp 10% mỗi bên nên phần lớn điểm vẫn đến từ Temporal.</a:t>
            </a:r>
            <a:endParaRPr lang="vi-VN" sz="1300" dirty="0"/>
          </a:p>
        </p:txBody>
      </p:sp>
      <p:sp>
        <p:nvSpPr>
          <p:cNvPr id="31" name="Text 31"/>
          <p:cNvSpPr txBox="1"/>
          <p:nvPr/>
        </p:nvSpPr>
        <p:spPr>
          <a:xfrm>
            <a:off x="812731" y="6100000"/>
            <a:ext cx="108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số (0,8; 0,1; 0,1) cố định, không học từ dữ liệu; chênh lệch nhỏ, chưa có bootstrap (notebook 06). Phương pháp khóa ở validation 12/2015 là recent3_temporal.</a:t>
            </a:r>
            <a:endParaRPr lang="vi-VN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19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1"/>
              </a:lnSpc>
              <a:buNone/>
            </a:pPr>
            <a:r>
              <a:rPr lang="en-US" sz="979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endParaRPr lang="en-US" sz="97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76275"/>
            <a:ext cx="10883534" cy="2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0"/>
              </a:lnSpc>
              <a:buNone/>
            </a:pPr>
            <a:r>
              <a:rPr lang="en-US" sz="1836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affinity: Temporal hơn Popularity</a:t>
            </a:r>
            <a:endParaRPr lang="en-US" sz="1836" dirty="0"/>
          </a:p>
        </p:txBody>
      </p:sp>
      <p:sp>
        <p:nvSpPr>
          <p:cNvPr id="4" name="Text 2"/>
          <p:cNvSpPr/>
          <p:nvPr/>
        </p:nvSpPr>
        <p:spPr>
          <a:xfrm>
            <a:off x="812731" y="1057585"/>
            <a:ext cx="10883534" cy="181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3"/>
              </a:lnSpc>
              <a:buNone/>
            </a:pPr>
            <a:r>
              <a:rPr lang="en-US" sz="979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4 tháng test (01–04/2016). Item coverage là tỷ lệ trong 24 sản phẩm từng được gợi ý. Sắp theo MAP@7 mọi khách (notebook 06).</a:t>
            </a:r>
            <a:endParaRPr lang="en-US" sz="979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357" y="1347478"/>
          <a:ext cx="10559910" cy="3451464"/>
        </p:xfrm>
        <a:graphic>
          <a:graphicData uri="http://schemas.openxmlformats.org/drawingml/2006/table">
            <a:tbl>
              <a:tblPr/>
              <a:tblGrid>
                <a:gridCol w="2111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1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MAP@7 mọi khách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MAP@7 khách có acquisition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Recall@7 khách có acquisition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coverage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blend80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0,024757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0,7675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0,9722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blend60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0,024656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0,7647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0,9712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joint20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0,024607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0,7634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0,9730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recent6_temporal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0,024553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0,7603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0,9575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85,4%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0,024527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0,7600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0,9590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658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temporal_both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0,024517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0,7608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0,9710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temporal_lifecycle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0,024477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0,7596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0,9697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recent6_joint20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0,024473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0,7596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0,9716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temporal_rfm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0,024337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0,7554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0,9614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91,7%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recent3_joint20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0,024075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0,7472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0,9740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recent3_temporal (đã khóa)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0,023750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0,7350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0,9642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0,021016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0,6505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0,9515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0,020843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0,6493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0,9565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0,020698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0,6404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0,9118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762">
                <a:tc>
                  <a:txBody>
                    <a:bodyPr/>
                    <a:lstStyle/>
                    <a:p>
                      <a:pPr marL="0" indent="0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item2vec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0,003122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0,0981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0,1397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045"/>
                        </a:lnSpc>
                        <a:buNone/>
                      </a:pPr>
                      <a:r>
                        <a:rPr lang="en-US" sz="746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74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31" y="4925876"/>
            <a:ext cx="11379269" cy="31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5"/>
              </a:lnSpc>
              <a:buNone/>
            </a:pPr>
            <a:r>
              <a:rPr lang="en-US" sz="1065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ở validation 12/2015 (recent3_temporal 0,021709 so với Temporal 0,021115), không đổi theo test. Điểm là điểm xếp hạng, chưa phải xác suất. Tuần trước khóa Temporal + RFM + lifecycle.</a:t>
            </a:r>
            <a:endParaRPr lang="en-US" sz="1065" dirty="0"/>
          </a:p>
        </p:txBody>
      </p:sp>
      <p:pic>
        <p:nvPicPr>
          <p:cNvPr id="7" name="Image 0" descr="rect"/>
          <p:cNvPicPr>
            <a:picLocks noChangeAspect="1"/>
          </p:cNvPicPr>
          <p:nvPr/>
        </p:nvPicPr>
        <p:blipFill>
          <a:blip r:embed="rId3"/>
          <a:srcRect t="-4958" b="-4958"/>
          <a:stretch/>
        </p:blipFill>
        <p:spPr>
          <a:xfrm>
            <a:off x="812731" y="5341348"/>
            <a:ext cx="28886" cy="152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8548" y="5341348"/>
            <a:ext cx="10723043" cy="113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 hơn Popularity 17,7% MAP@7; bản khóa recent3_temporal hơn Popularity 13,9% nhưng thấp hơn Temporal, còn blend80 cao nhất (+0,94% so với Temporal). Chênh lệch nhỏ và chưa có bootstrap; Association không hơn Popularity.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1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CLV-PROXY</a:t>
            </a:r>
            <a:endParaRPr lang="en-US" sz="108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84870"/>
            <a:ext cx="10883534" cy="31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69"/>
              </a:lnSpc>
              <a:buNone/>
            </a:pPr>
            <a:r>
              <a:rPr lang="en-US" sz="2063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CLV-proxy: hai nguồn, bốn nhóm feature, ba đầu ra</a:t>
            </a:r>
            <a:endParaRPr lang="en-US" sz="2063" dirty="0"/>
          </a:p>
        </p:txBody>
      </p:sp>
      <p:sp>
        <p:nvSpPr>
          <p:cNvPr id="4" name="Text 2"/>
          <p:cNvSpPr/>
          <p:nvPr/>
        </p:nvSpPr>
        <p:spPr>
          <a:xfrm>
            <a:off x="812731" y="1085645"/>
            <a:ext cx="10883534" cy="20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109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dòng là một khách có snapshot đầy đủ ở tháng chốt t; mô hình chỉ dự báo số lượng acquisition, không dự báo sản phẩm cụ thể.</a:t>
            </a:r>
            <a:endParaRPr lang="en-US" sz="1093" dirty="0"/>
          </a:p>
        </p:txBody>
      </p:sp>
      <p:sp>
        <p:nvSpPr>
          <p:cNvPr id="11" name="Text 11"/>
          <p:cNvSpPr txBox="1"/>
          <p:nvPr/>
        </p:nvSpPr>
        <p:spPr>
          <a:xfrm>
            <a:off x="812731" y="1620000"/>
            <a:ext cx="1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1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endParaRPr lang="vi-VN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2950000" y="1620000"/>
            <a:ext cx="3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1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vi-VN" sz="1100" dirty="0"/>
          </a:p>
        </p:txBody>
      </p:sp>
      <p:sp>
        <p:nvSpPr>
          <p:cNvPr id="13" name="Text 13"/>
          <p:cNvSpPr txBox="1"/>
          <p:nvPr/>
        </p:nvSpPr>
        <p:spPr>
          <a:xfrm>
            <a:off x="6500000" y="1620000"/>
            <a:ext cx="2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11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vi-VN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8850000" y="1620000"/>
            <a:ext cx="2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1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· horizon 1, 3, 6 tháng</a:t>
            </a:r>
            <a:endParaRPr lang="vi-VN" sz="1100" dirty="0"/>
          </a:p>
        </p:txBody>
      </p:sp>
      <p:sp>
        <p:nvSpPr>
          <p:cNvPr id="15" name="Box 15"/>
          <p:cNvSpPr/>
          <p:nvPr/>
        </p:nvSpPr>
        <p:spPr>
          <a:xfrm>
            <a:off x="812731" y="1950000"/>
            <a:ext cx="1800000" cy="1520000"/>
          </a:xfrm>
          <a:prstGeom prst="roundRect">
            <a:avLst>
              <a:gd name="adj" fmla="val 8000"/>
            </a:avLst>
          </a:prstGeom>
          <a:solidFill>
            <a:srgbClr val="2A8F9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snapshot sản phẩm</a:t>
            </a:r>
            <a:endParaRPr lang="vi-VN" sz="14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cờ sở hữu theo tháng, từ notebook affinity</a:t>
            </a:r>
            <a:endParaRPr lang="vi-VN" sz="1050" dirty="0"/>
          </a:p>
        </p:txBody>
      </p:sp>
      <p:sp>
        <p:nvSpPr>
          <p:cNvPr id="16" name="Box 16"/>
          <p:cNvSpPr/>
          <p:nvPr/>
        </p:nvSpPr>
        <p:spPr>
          <a:xfrm>
            <a:off x="812731" y="3590000"/>
            <a:ext cx="1800000" cy="15200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khách</a:t>
            </a:r>
            <a:endParaRPr lang="vi-VN" sz="14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và lifecycle, từ notebook affinity</a:t>
            </a:r>
            <a:endParaRPr lang="vi-VN" sz="1050" dirty="0"/>
          </a:p>
        </p:txBody>
      </p:sp>
      <p:cxnSp>
        <p:nvCxnSpPr>
          <p:cNvPr id="17" name="Arrow 17"/>
          <p:cNvCxnSpPr/>
          <p:nvPr/>
        </p:nvCxnSpPr>
        <p:spPr>
          <a:xfrm>
            <a:off x="2662731" y="2300000"/>
            <a:ext cx="23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18" name="Box 18"/>
          <p:cNvSpPr/>
          <p:nvPr/>
        </p:nvSpPr>
        <p:spPr>
          <a:xfrm>
            <a:off x="2950000" y="1950000"/>
            <a:ext cx="3200000" cy="7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sản phẩm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cờ, số sản phẩm đang có và còn lại</a:t>
            </a:r>
            <a:endParaRPr lang="vi-VN" sz="10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trong: ML_portfolio trở lên</a:t>
            </a:r>
            <a:endParaRPr lang="vi-VN" sz="1000" dirty="0"/>
          </a:p>
        </p:txBody>
      </p:sp>
      <p:cxnSp>
        <p:nvCxnSpPr>
          <p:cNvPr id="19" name="Arrow 19"/>
          <p:cNvCxnSpPr/>
          <p:nvPr/>
        </p:nvCxnSpPr>
        <p:spPr>
          <a:xfrm>
            <a:off x="6200000" y="2300000"/>
            <a:ext cx="250000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cxnSp>
        <p:nvCxnSpPr>
          <p:cNvPr id="20" name="Arrow 20"/>
          <p:cNvCxnSpPr/>
          <p:nvPr/>
        </p:nvCxnSpPr>
        <p:spPr>
          <a:xfrm>
            <a:off x="2662731" y="3120000"/>
            <a:ext cx="23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1" name="Box 21"/>
          <p:cNvSpPr/>
          <p:nvPr/>
        </p:nvSpPr>
        <p:spPr>
          <a:xfrm>
            <a:off x="2950000" y="2770000"/>
            <a:ext cx="3200000" cy="7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acquisition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mở, tháng từ lần mở gần nhất, event 3 và 6 tháng</a:t>
            </a:r>
            <a:endParaRPr lang="vi-VN" sz="10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trong: ML_RFM_stable, ML_full</a:t>
            </a:r>
            <a:endParaRPr lang="vi-VN" sz="1000" dirty="0"/>
          </a:p>
        </p:txBody>
      </p:sp>
      <p:cxnSp>
        <p:nvCxnSpPr>
          <p:cNvPr id="22" name="Arrow 22"/>
          <p:cNvCxnSpPr/>
          <p:nvPr/>
        </p:nvCxnSpPr>
        <p:spPr>
          <a:xfrm>
            <a:off x="6200000" y="3120000"/>
            <a:ext cx="250000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cxnSp>
        <p:nvCxnSpPr>
          <p:cNvPr id="23" name="Arrow 23"/>
          <p:cNvCxnSpPr/>
          <p:nvPr/>
        </p:nvCxnSpPr>
        <p:spPr>
          <a:xfrm>
            <a:off x="2662731" y="3940000"/>
            <a:ext cx="23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4" name="Box 24"/>
          <p:cNvSpPr/>
          <p:nvPr/>
        </p:nvSpPr>
        <p:spPr>
          <a:xfrm>
            <a:off x="2950000" y="3590000"/>
            <a:ext cx="3200000" cy="7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F (số tháng có event), M (điểm theo nhóm sản phẩm)</a:t>
            </a:r>
            <a:endParaRPr lang="vi-VN" sz="10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trong: ML_RFM_only trở lên; M riêng ở ML_M_only</a:t>
            </a:r>
            <a:endParaRPr lang="vi-VN" sz="1000" dirty="0"/>
          </a:p>
        </p:txBody>
      </p:sp>
      <p:cxnSp>
        <p:nvCxnSpPr>
          <p:cNvPr id="25" name="Arrow 25"/>
          <p:cNvCxnSpPr/>
          <p:nvPr/>
        </p:nvCxnSpPr>
        <p:spPr>
          <a:xfrm>
            <a:off x="6200000" y="3940000"/>
            <a:ext cx="250000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cxnSp>
        <p:nvCxnSpPr>
          <p:cNvPr id="26" name="Arrow 26"/>
          <p:cNvCxnSpPr/>
          <p:nvPr/>
        </p:nvCxnSpPr>
        <p:spPr>
          <a:xfrm>
            <a:off x="2662731" y="4760000"/>
            <a:ext cx="237269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7" name="Box 27"/>
          <p:cNvSpPr/>
          <p:nvPr/>
        </p:nvSpPr>
        <p:spPr>
          <a:xfrm>
            <a:off x="2950000" y="4410000"/>
            <a:ext cx="3200000" cy="7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vi-VN" sz="13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trạng thái New, Active, At-risk, Churned, Win-back</a:t>
            </a:r>
            <a:endParaRPr lang="vi-VN" sz="10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có trong: ML_full</a:t>
            </a:r>
            <a:endParaRPr lang="vi-VN" sz="1000" dirty="0"/>
          </a:p>
        </p:txBody>
      </p:sp>
      <p:cxnSp>
        <p:nvCxnSpPr>
          <p:cNvPr id="28" name="Arrow 28"/>
          <p:cNvCxnSpPr/>
          <p:nvPr/>
        </p:nvCxnSpPr>
        <p:spPr>
          <a:xfrm>
            <a:off x="6200000" y="4760000"/>
            <a:ext cx="250000" cy="0"/>
          </a:xfrm>
          <a:prstGeom prst="line">
            <a:avLst/>
          </a:prstGeom>
          <a:ln w="22225">
            <a:solidFill>
              <a:srgbClr val="1B2A41"/>
            </a:solidFill>
            <a:tailEnd type="triangle" w="med" len="med"/>
          </a:ln>
        </p:spPr>
      </p:cxnSp>
      <p:sp>
        <p:nvSpPr>
          <p:cNvPr id="29" name="Box 29"/>
          <p:cNvSpPr/>
          <p:nvPr/>
        </p:nvSpPr>
        <p:spPr>
          <a:xfrm>
            <a:off x="6500000" y="1950000"/>
            <a:ext cx="2000000" cy="3160000"/>
          </a:xfrm>
          <a:prstGeom prst="roundRect">
            <a:avLst>
              <a:gd name="adj" fmla="val 8000"/>
            </a:avLst>
          </a:prstGeom>
          <a:solidFill>
            <a:srgbClr val="C8481C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vi-VN" sz="16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Poisson</a:t>
            </a:r>
            <a:endParaRPr lang="vi-VN" sz="105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feature chọn bằng capture@10% trên validation, test chỉ xác nhận</a:t>
            </a:r>
            <a:endParaRPr lang="vi-VN" sz="105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sánh: BG/NBD + Gamma-Gamma</a:t>
            </a:r>
            <a:endParaRPr lang="vi-VN" sz="1050" dirty="0"/>
          </a:p>
        </p:txBody>
      </p:sp>
      <p:cxnSp>
        <p:nvCxnSpPr>
          <p:cNvPr id="30" name="Arrow 30"/>
          <p:cNvCxnSpPr/>
          <p:nvPr/>
        </p:nvCxnSpPr>
        <p:spPr>
          <a:xfrm>
            <a:off x="8550000" y="2400000"/>
            <a:ext cx="250000" cy="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31" name="Box 31"/>
          <p:cNvSpPr/>
          <p:nvPr/>
        </p:nvSpPr>
        <p:spPr>
          <a:xfrm>
            <a:off x="8850000" y="1950000"/>
            <a:ext cx="2800000" cy="9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tháng có acquisition</a:t>
            </a:r>
            <a:endParaRPr lang="vi-VN" sz="14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tháng có ít nhất 1 sản phẩm mở</a:t>
            </a:r>
            <a:endParaRPr lang="vi-VN" sz="1050" dirty="0"/>
          </a:p>
        </p:txBody>
      </p:sp>
      <p:cxnSp>
        <p:nvCxnSpPr>
          <p:cNvPr id="32" name="Arrow 32"/>
          <p:cNvCxnSpPr/>
          <p:nvPr/>
        </p:nvCxnSpPr>
        <p:spPr>
          <a:xfrm>
            <a:off x="8550000" y="3530000"/>
            <a:ext cx="250000" cy="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33" name="Box 33"/>
          <p:cNvSpPr/>
          <p:nvPr/>
        </p:nvSpPr>
        <p:spPr>
          <a:xfrm>
            <a:off x="8850000" y="3080000"/>
            <a:ext cx="2800000" cy="9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sản phẩm mở</a:t>
            </a:r>
            <a:endParaRPr lang="vi-VN" sz="14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lượt 0→1 trong horizon</a:t>
            </a:r>
            <a:endParaRPr lang="vi-VN" sz="1050" dirty="0"/>
          </a:p>
        </p:txBody>
      </p:sp>
      <p:cxnSp>
        <p:nvCxnSpPr>
          <p:cNvPr id="34" name="Arrow 34"/>
          <p:cNvCxnSpPr/>
          <p:nvPr/>
        </p:nvCxnSpPr>
        <p:spPr>
          <a:xfrm>
            <a:off x="8550000" y="4660000"/>
            <a:ext cx="250000" cy="0"/>
          </a:xfrm>
          <a:prstGeom prst="line">
            <a:avLst/>
          </a:prstGeom>
          <a:ln w="22225">
            <a:solidFill>
              <a:srgbClr val="C8481C"/>
            </a:solidFill>
            <a:tailEnd type="triangle" w="med" len="med"/>
          </a:ln>
        </p:spPr>
      </p:cxnSp>
      <p:sp>
        <p:nvSpPr>
          <p:cNvPr id="35" name="Box 35"/>
          <p:cNvSpPr/>
          <p:nvPr/>
        </p:nvSpPr>
        <p:spPr>
          <a:xfrm>
            <a:off x="8850000" y="4210000"/>
            <a:ext cx="2800000" cy="900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5DAE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acquisition</a:t>
            </a:r>
            <a:endParaRPr lang="vi-VN" sz="1400" dirty="0"/>
          </a:p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vi-VN" sz="105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trọng số sản phẩm mở</a:t>
            </a:r>
            <a:endParaRPr lang="vi-VN" sz="1050" dirty="0"/>
          </a:p>
        </p:txBody>
      </p:sp>
      <p:sp>
        <p:nvSpPr>
          <p:cNvPr id="36" name="Bar 36"/>
          <p:cNvSpPr/>
          <p:nvPr/>
        </p:nvSpPr>
        <p:spPr>
          <a:xfrm>
            <a:off x="812731" y="5350000"/>
            <a:ext cx="45720" cy="620000"/>
          </a:xfrm>
          <a:prstGeom prst="rect">
            <a:avLst/>
          </a:prstGeom>
          <a:solidFill>
            <a:srgbClr val="C848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992731" y="5350000"/>
            <a:ext cx="107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3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 </a:t>
            </a: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dùng để chọn khách ưu tiên; affinity xếp sản phẩm cho những khách đó, ghép bằng customer_id + as_of_month, không nhân điểm hai bên vì điểm affinity chưa là xác suất.</a:t>
            </a:r>
            <a:endParaRPr lang="vi-VN" sz="1300" dirty="0"/>
          </a:p>
        </p:txBody>
      </p:sp>
      <p:sp>
        <p:nvSpPr>
          <p:cNvPr id="38" name="Text 38"/>
          <p:cNvSpPr txBox="1"/>
          <p:nvPr/>
        </p:nvSpPr>
        <p:spPr>
          <a:xfrm>
            <a:off x="812731" y="6130000"/>
            <a:ext cx="108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ever_acquired lấy từ F_events của metadata; phần còn lại của nhóm lịch sử tính từ snapshot các cặp tháng liền kề. 1 tháng là horizon chính, 12 tháng chưa đủ dữ liệu. Đã xuất dự báo 05/2016 cho 931.453 khách, loại 25.192 khách At-risk và Churned (notebook 07).</a:t>
            </a:r>
            <a:endParaRPr lang="vi-VN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1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CLV-PROXY</a:t>
            </a:r>
            <a:endParaRPr lang="en-US" sz="108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84870"/>
            <a:ext cx="10883534" cy="31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69"/>
              </a:lnSpc>
              <a:buNone/>
            </a:pPr>
            <a:r>
              <a:rPr lang="en-US" sz="2063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mô hình khóa ở validation giữ được thứ hạng khách ở test</a:t>
            </a:r>
            <a:endParaRPr lang="en-US" sz="2063" dirty="0"/>
          </a:p>
        </p:txBody>
      </p:sp>
      <p:sp>
        <p:nvSpPr>
          <p:cNvPr id="4" name="Text 2"/>
          <p:cNvSpPr/>
          <p:nvPr/>
        </p:nvSpPr>
        <p:spPr>
          <a:xfrm>
            <a:off x="812731" y="1085645"/>
            <a:ext cx="10883534" cy="20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109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tháng, mục tiêu số sản phẩm mở. Validation 11/2015 → 12/2015; test là trung bình 5 tháng (origin 12/2015–04/2016), không chọn lại theo test (notebook 07).</a:t>
            </a:r>
            <a:endParaRPr lang="en-US" sz="1093" dirty="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822387"/>
              </p:ext>
            </p:extLst>
          </p:nvPr>
        </p:nvGraphicFramePr>
        <p:xfrm>
          <a:off x="812731" y="1550000"/>
          <a:ext cx="10550000" cy="3040000"/>
        </p:xfrm>
        <a:graphic>
          <a:graphicData uri="http://schemas.openxmlformats.org/drawingml/2006/table">
            <a:tbl>
              <a:tblPr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Capture@10% validation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Capture@10% test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Lift10 test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test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test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ML_RFM_stable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0,6401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0,6634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6,6340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1,0970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ML_RFM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0,6394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6,7045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0,2257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1,1175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ML_full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0,6386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0,6632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6,6324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1,0984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ML_RFM_only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0,5936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0,6101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6,1011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0,2277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1,2620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ML_M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0,5682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0,5693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5,6928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0,2309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1,0583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Porfolio</a:t>
                      </a:r>
                      <a:endParaRPr lang="vi-VN" sz="1100" b="0" dirty="0">
                        <a:solidFill>
                          <a:srgbClr val="1B2A4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0,4582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0,5105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5,1054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0,2347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1,3470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has_event_mean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0,3938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0,3830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3,8304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0,2368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1,3921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812731" y="4700000"/>
            <a:ext cx="1088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5 tháng test, capture@10% của mô hình khóa giữ 0,62–0,73 nhưng calibration dao động 0,75–1,26 (thấp nhất ở tháng chốt 01/2016). Ở 3 tháng, ML_RFM_only giữ 0,56–0,60 nhưng dự báo cao hơn thực tế khoảng 23–42%; ở 6 tháng, ML_full đạt 0,5342 so với BG/NBD 0,5277. Bảng lược ML_portfolio, ML_M_only và hai baseline hằng số không xếp hạng được; chưa có khoảng tin cậy.</a:t>
            </a:r>
            <a:endParaRPr lang="vi-VN" sz="1000" dirty="0"/>
          </a:p>
        </p:txBody>
      </p:sp>
      <p:sp>
        <p:nvSpPr>
          <p:cNvPr id="13" name="Bar 13"/>
          <p:cNvSpPr/>
          <p:nvPr/>
        </p:nvSpPr>
        <p:spPr>
          <a:xfrm>
            <a:off x="812731" y="5350000"/>
            <a:ext cx="45720" cy="640000"/>
          </a:xfrm>
          <a:prstGeom prst="rect">
            <a:avLst/>
          </a:prstGeom>
          <a:solidFill>
            <a:srgbClr val="C848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992731" y="5350000"/>
            <a:ext cx="107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3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 </a:t>
            </a: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ML_RFM_stable đạt capture@10% 0,6634 ở test (validation 0,6401), hơn hẳn BG/NBD (0,5105) và has_event_mean (0,3830); dự báo cao hơn thực tế khoảng 10% (calibration 1,097).</a:t>
            </a:r>
            <a:endParaRPr lang="vi-VN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381000"/>
            <a:ext cx="10883534" cy="21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89" b="1" kern="0" spc="100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CLV-PROXY</a:t>
            </a:r>
            <a:endParaRPr lang="en-US" sz="108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31" y="684870"/>
            <a:ext cx="10883534" cy="31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69"/>
              </a:lnSpc>
              <a:buNone/>
            </a:pPr>
            <a:r>
              <a:rPr lang="en-US" sz="2063" b="1" i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yếu ở khách New và khách đã có event</a:t>
            </a:r>
            <a:endParaRPr lang="en-US" sz="2063" dirty="0"/>
          </a:p>
        </p:txBody>
      </p:sp>
      <p:sp>
        <p:nvSpPr>
          <p:cNvPr id="4" name="Text 2"/>
          <p:cNvSpPr/>
          <p:nvPr/>
        </p:nvSpPr>
        <p:spPr>
          <a:xfrm>
            <a:off x="812731" y="1085645"/>
            <a:ext cx="10883534" cy="20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109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khóa, mục tiêu số sản phẩm mở, horizon 1 tháng. Nhóm tính trung bình đơn giản 5 tháng test; cụm RFM gộp các tháng test (notebook 07).</a:t>
            </a:r>
            <a:endParaRPr lang="en-US" sz="1093" dirty="0"/>
          </a:p>
        </p:txBody>
      </p:sp>
      <p:sp>
        <p:nvSpPr>
          <p:cNvPr id="11" name="Text 11"/>
          <p:cNvSpPr txBox="1"/>
          <p:nvPr/>
        </p:nvSpPr>
        <p:spPr>
          <a:xfrm>
            <a:off x="812731" y="1550000"/>
            <a:ext cx="5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nhóm, trung bình 5 tháng</a:t>
            </a:r>
            <a:endParaRPr lang="vi-VN" sz="1200" dirty="0"/>
          </a:p>
        </p:txBody>
      </p:sp>
      <p:sp>
        <p:nvSpPr>
          <p:cNvPr id="12" name="Text 12"/>
          <p:cNvSpPr txBox="1"/>
          <p:nvPr/>
        </p:nvSpPr>
        <p:spPr>
          <a:xfrm>
            <a:off x="6250000" y="1550000"/>
            <a:ext cx="5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cụm RFM (4 trong 12 cụm đông nhất)</a:t>
            </a:r>
            <a:endParaRPr lang="vi-VN" sz="120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812731" y="1880000"/>
          <a:ext cx="5200000" cy="2150000"/>
        </p:xfrm>
        <a:graphic>
          <a:graphicData uri="http://schemas.openxmlformats.org/drawingml/2006/table">
            <a:tbl>
              <a:tblPr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Capture@10%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có event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0,1351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0,5936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1,0302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có event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0,4286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0,3510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1,1261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Active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0,2142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0,6739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1,1565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New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0,6112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0,1715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0,5383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250000" y="1880000"/>
          <a:ext cx="5450000" cy="2150000"/>
        </p:xfrm>
        <a:graphic>
          <a:graphicData uri="http://schemas.openxmlformats.org/drawingml/2006/table">
            <a:tbl>
              <a:tblPr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Cụm RFM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Khách–tháng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 TB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báo TB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R3_F1_M1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71.180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0,0636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0,1199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C84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1,8857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R4_F1_M1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37.449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0,0628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1,3781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R4_F1_M3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33.109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0,0474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0,8404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R2_F3_M5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31.438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0,5839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0,5540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vi-VN" sz="1100" b="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0,9487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812731" y="4200000"/>
            <a:ext cx="1088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000" b="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đã có event mở thêm sản phẩm cao hơn nhóm chưa có event khoảng 9–14 lần ở mọi horizon (1 tháng, tháng chốt 11/2015: 14,64% so với 1,53% khách có acquisition). Win-back chỉ 18–41 khách mỗi tháng nên không đưa vào; đây là proxy hành vi, dữ liệu không có tiền giao dịch.</a:t>
            </a:r>
            <a:endParaRPr lang="vi-VN" sz="1000" dirty="0"/>
          </a:p>
        </p:txBody>
      </p:sp>
      <p:sp>
        <p:nvSpPr>
          <p:cNvPr id="16" name="Bar 16"/>
          <p:cNvSpPr/>
          <p:nvPr/>
        </p:nvSpPr>
        <p:spPr>
          <a:xfrm>
            <a:off x="812731" y="5000000"/>
            <a:ext cx="45720" cy="760000"/>
          </a:xfrm>
          <a:prstGeom prst="rect">
            <a:avLst/>
          </a:prstGeom>
          <a:solidFill>
            <a:srgbClr val="C848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992731" y="5000000"/>
            <a:ext cx="107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1300" b="1" dirty="0">
                <a:solidFill>
                  <a:srgbClr val="C84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ra · </a:t>
            </a:r>
            <a:r>
              <a:rPr lang="vi-VN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xếp hạng tốt ở khách Active (capture@10% 0,67) nhưng yếu ở khách đã có event (0,35) và khách New (0,17), nơi dự báo thấp hơn thực tế khoảng một nửa (calibration 0,54); cụm R3_F1_M1 dự báo cao gần gấp đôi thực tế.</a:t>
            </a:r>
            <a:endParaRPr lang="vi-VN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tander: so sánh các cách tính M">
  <a:themeElements>
    <a:clrScheme name="Santander: so sánh các cách tính M">
      <a:dk1>
        <a:srgbClr val="1B2A41"/>
      </a:dk1>
      <a:lt1>
        <a:srgbClr val="FFFFFF"/>
      </a:lt1>
      <a:dk2>
        <a:srgbClr val="545F71"/>
      </a:dk2>
      <a:lt2>
        <a:srgbClr val="E8EAEC"/>
      </a:lt2>
      <a:accent1>
        <a:srgbClr val="C8481C"/>
      </a:accent1>
      <a:accent2>
        <a:srgbClr val="2A8F9D"/>
      </a:accent2>
      <a:accent3>
        <a:srgbClr val="E0B04A"/>
      </a:accent3>
      <a:accent4>
        <a:srgbClr val="5B6573"/>
      </a:accent4>
      <a:accent5>
        <a:srgbClr val="9AA0A6"/>
      </a:accent5>
      <a:accent6>
        <a:srgbClr val="767F8D"/>
      </a:accent6>
      <a:hlink>
        <a:srgbClr val="0563C1"/>
      </a:hlink>
      <a:folHlink>
        <a:srgbClr val="954F72"/>
      </a:folHlink>
    </a:clrScheme>
    <a:fontScheme name="Santander: so sánh các cách tính 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3121</Words>
  <Application>Microsoft Office PowerPoint</Application>
  <PresentationFormat>Widescreen</PresentationFormat>
  <Paragraphs>661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Santander: so sánh các cách tính M</vt:lpstr>
      <vt:lpstr>So sánh kết quả giữa các cách tính M</vt:lpstr>
      <vt:lpstr>Lift10 của từng cách tính M theo tháng</vt:lpstr>
      <vt:lpstr>So sánh kết quả giữa các cách chọn RFM</vt:lpstr>
      <vt:lpstr>Acquisition từng nhóm RFM qua các tháng</vt:lpstr>
      <vt:lpstr>Sơ đồ lifecycle: năm trạng thái nối tiếp theo hiện diện</vt:lpstr>
      <vt:lpstr>Lifecycle bổ sung rất ít cho RFM</vt:lpstr>
      <vt:lpstr>Affinity: ba cách xếp hạng sản phẩm</vt:lpstr>
      <vt:lpstr>Sơ đồ blend80: 80% temporal, 10% RFM, 10% lifecycle</vt:lpstr>
      <vt:lpstr>Kết quả affinity: Temporal hơn Popularity</vt:lpstr>
      <vt:lpstr>Sơ đồ CLV-proxy: hai nguồn, bốn nhóm feature, ba đầu ra</vt:lpstr>
      <vt:lpstr>Kết quả: mô hình khóa ở validation giữ được thứ hạng khách ở test</vt:lpstr>
      <vt:lpstr>Mô hình yếu ở khách New và khách đã có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Santander: so sánh các cách tính M</dc:title>
  <dc:subject/>
  <dc:creator/>
  <cp:lastModifiedBy>Trần Đức Thiện</cp:lastModifiedBy>
  <cp:revision>2</cp:revision>
  <dcterms:created xsi:type="dcterms:W3CDTF">2026-10-13T09:10:10Z</dcterms:created>
  <dcterms:modified xsi:type="dcterms:W3CDTF">2026-10-13T10:01:16Z</dcterms:modified>
</cp:coreProperties>
</file>